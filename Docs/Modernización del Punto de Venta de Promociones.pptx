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7" r:id="rId2"/>
    <p:sldId id="260" r:id="rId3"/>
    <p:sldId id="288" r:id="rId4"/>
    <p:sldId id="294" r:id="rId5"/>
    <p:sldId id="293" r:id="rId6"/>
    <p:sldId id="264" r:id="rId7"/>
    <p:sldId id="266" r:id="rId8"/>
    <p:sldId id="268" r:id="rId9"/>
    <p:sldId id="274" r:id="rId10"/>
    <p:sldId id="272" r:id="rId11"/>
    <p:sldId id="276" r:id="rId12"/>
    <p:sldId id="278" r:id="rId13"/>
    <p:sldId id="280" r:id="rId14"/>
    <p:sldId id="282" r:id="rId15"/>
    <p:sldId id="290" r:id="rId16"/>
    <p:sldId id="292" r:id="rId17"/>
    <p:sldId id="284" r:id="rId18"/>
    <p:sldId id="286" r:id="rId1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o Denis" userId="ddb8f2aa-8d07-42f3-b848-2f33333c8914" providerId="ADAL" clId="{AE2836E8-C014-4449-88FB-517CF90F5788}"/>
    <pc:docChg chg="undo custSel addSld modSld sldOrd">
      <pc:chgData name="Marcelo Denis" userId="ddb8f2aa-8d07-42f3-b848-2f33333c8914" providerId="ADAL" clId="{AE2836E8-C014-4449-88FB-517CF90F5788}" dt="2026-06-29T12:02:00.180" v="366"/>
      <pc:docMkLst>
        <pc:docMk/>
      </pc:docMkLst>
      <pc:sldChg chg="modSp mod">
        <pc:chgData name="Marcelo Denis" userId="ddb8f2aa-8d07-42f3-b848-2f33333c8914" providerId="ADAL" clId="{AE2836E8-C014-4449-88FB-517CF90F5788}" dt="2026-06-26T16:30:48.514" v="73" actId="20577"/>
        <pc:sldMkLst>
          <pc:docMk/>
          <pc:sldMk cId="2762183763" sldId="268"/>
        </pc:sldMkLst>
        <pc:spChg chg="mod">
          <ac:chgData name="Marcelo Denis" userId="ddb8f2aa-8d07-42f3-b848-2f33333c8914" providerId="ADAL" clId="{AE2836E8-C014-4449-88FB-517CF90F5788}" dt="2026-06-26T16:29:41.907" v="4" actId="20577"/>
          <ac:spMkLst>
            <pc:docMk/>
            <pc:sldMk cId="2762183763" sldId="268"/>
            <ac:spMk id="843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0:48.514" v="73" actId="20577"/>
          <ac:spMkLst>
            <pc:docMk/>
            <pc:sldMk cId="2762183763" sldId="268"/>
            <ac:spMk id="853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0:42.054" v="64" actId="20577"/>
          <ac:spMkLst>
            <pc:docMk/>
            <pc:sldMk cId="2762183763" sldId="268"/>
            <ac:spMk id="854" creationId="{00000000-0000-0000-0000-000000000000}"/>
          </ac:spMkLst>
        </pc:spChg>
      </pc:sldChg>
      <pc:sldChg chg="addSp modSp mod">
        <pc:chgData name="Marcelo Denis" userId="ddb8f2aa-8d07-42f3-b848-2f33333c8914" providerId="ADAL" clId="{AE2836E8-C014-4449-88FB-517CF90F5788}" dt="2026-06-26T16:43:32.177" v="347" actId="108"/>
        <pc:sldMkLst>
          <pc:docMk/>
          <pc:sldMk cId="387643073" sldId="276"/>
        </pc:sldMkLst>
        <pc:spChg chg="add mod">
          <ac:chgData name="Marcelo Denis" userId="ddb8f2aa-8d07-42f3-b848-2f33333c8914" providerId="ADAL" clId="{AE2836E8-C014-4449-88FB-517CF90F5788}" dt="2026-06-26T16:38:50.150" v="281" actId="1076"/>
          <ac:spMkLst>
            <pc:docMk/>
            <pc:sldMk cId="387643073" sldId="276"/>
            <ac:spMk id="3" creationId="{12B6673E-3CC5-87BA-230B-697A2F6043AC}"/>
          </ac:spMkLst>
        </pc:spChg>
        <pc:spChg chg="add mod">
          <ac:chgData name="Marcelo Denis" userId="ddb8f2aa-8d07-42f3-b848-2f33333c8914" providerId="ADAL" clId="{AE2836E8-C014-4449-88FB-517CF90F5788}" dt="2026-06-26T16:38:50.150" v="281" actId="1076"/>
          <ac:spMkLst>
            <pc:docMk/>
            <pc:sldMk cId="387643073" sldId="276"/>
            <ac:spMk id="4" creationId="{1F047CFF-9624-D36C-D24A-D5DBF4BCDEA1}"/>
          </ac:spMkLst>
        </pc:spChg>
        <pc:spChg chg="add mod">
          <ac:chgData name="Marcelo Denis" userId="ddb8f2aa-8d07-42f3-b848-2f33333c8914" providerId="ADAL" clId="{AE2836E8-C014-4449-88FB-517CF90F5788}" dt="2026-06-26T16:38:50.150" v="281" actId="1076"/>
          <ac:spMkLst>
            <pc:docMk/>
            <pc:sldMk cId="387643073" sldId="276"/>
            <ac:spMk id="5" creationId="{4DC57BFA-20C7-5CA0-CE74-913614004E58}"/>
          </ac:spMkLst>
        </pc:spChg>
        <pc:spChg chg="add mod">
          <ac:chgData name="Marcelo Denis" userId="ddb8f2aa-8d07-42f3-b848-2f33333c8914" providerId="ADAL" clId="{AE2836E8-C014-4449-88FB-517CF90F5788}" dt="2026-06-26T16:38:50.150" v="281" actId="1076"/>
          <ac:spMkLst>
            <pc:docMk/>
            <pc:sldMk cId="387643073" sldId="276"/>
            <ac:spMk id="7" creationId="{E0B499A2-BFA6-6CAD-BEA9-02EABCE4DEAD}"/>
          </ac:spMkLst>
        </pc:spChg>
        <pc:spChg chg="add mod">
          <ac:chgData name="Marcelo Denis" userId="ddb8f2aa-8d07-42f3-b848-2f33333c8914" providerId="ADAL" clId="{AE2836E8-C014-4449-88FB-517CF90F5788}" dt="2026-06-26T16:39:01.362" v="283" actId="1076"/>
          <ac:spMkLst>
            <pc:docMk/>
            <pc:sldMk cId="387643073" sldId="276"/>
            <ac:spMk id="8" creationId="{AA173CFC-C7C6-6E21-510B-4D3E3C545B39}"/>
          </ac:spMkLst>
        </pc:spChg>
        <pc:spChg chg="add mod">
          <ac:chgData name="Marcelo Denis" userId="ddb8f2aa-8d07-42f3-b848-2f33333c8914" providerId="ADAL" clId="{AE2836E8-C014-4449-88FB-517CF90F5788}" dt="2026-06-26T16:39:01.362" v="283" actId="1076"/>
          <ac:spMkLst>
            <pc:docMk/>
            <pc:sldMk cId="387643073" sldId="276"/>
            <ac:spMk id="9" creationId="{6755BF66-E224-ED17-7BD7-87595B2A34F3}"/>
          </ac:spMkLst>
        </pc:spChg>
        <pc:spChg chg="add mod">
          <ac:chgData name="Marcelo Denis" userId="ddb8f2aa-8d07-42f3-b848-2f33333c8914" providerId="ADAL" clId="{AE2836E8-C014-4449-88FB-517CF90F5788}" dt="2026-06-26T16:39:01.362" v="283" actId="1076"/>
          <ac:spMkLst>
            <pc:docMk/>
            <pc:sldMk cId="387643073" sldId="276"/>
            <ac:spMk id="10" creationId="{F7329692-5508-AC73-EDD9-911B58D4FD4F}"/>
          </ac:spMkLst>
        </pc:spChg>
        <pc:spChg chg="add mod">
          <ac:chgData name="Marcelo Denis" userId="ddb8f2aa-8d07-42f3-b848-2f33333c8914" providerId="ADAL" clId="{AE2836E8-C014-4449-88FB-517CF90F5788}" dt="2026-06-26T16:43:32.177" v="347" actId="108"/>
          <ac:spMkLst>
            <pc:docMk/>
            <pc:sldMk cId="387643073" sldId="276"/>
            <ac:spMk id="11" creationId="{143AE8E7-9B3F-9B3E-05F8-E3F21FAD3B77}"/>
          </ac:spMkLst>
        </pc:spChg>
        <pc:spChg chg="add mod">
          <ac:chgData name="Marcelo Denis" userId="ddb8f2aa-8d07-42f3-b848-2f33333c8914" providerId="ADAL" clId="{AE2836E8-C014-4449-88FB-517CF90F5788}" dt="2026-06-26T16:40:14.318" v="291" actId="1076"/>
          <ac:spMkLst>
            <pc:docMk/>
            <pc:sldMk cId="387643073" sldId="276"/>
            <ac:spMk id="12" creationId="{82A20E35-1759-7738-040B-E50952CCDB0D}"/>
          </ac:spMkLst>
        </pc:spChg>
        <pc:spChg chg="add mod">
          <ac:chgData name="Marcelo Denis" userId="ddb8f2aa-8d07-42f3-b848-2f33333c8914" providerId="ADAL" clId="{AE2836E8-C014-4449-88FB-517CF90F5788}" dt="2026-06-26T16:40:46.728" v="325" actId="27636"/>
          <ac:spMkLst>
            <pc:docMk/>
            <pc:sldMk cId="387643073" sldId="276"/>
            <ac:spMk id="13" creationId="{E1839D9D-E926-16EC-AFF3-DF0C19F44F43}"/>
          </ac:spMkLst>
        </pc:spChg>
        <pc:spChg chg="add mod">
          <ac:chgData name="Marcelo Denis" userId="ddb8f2aa-8d07-42f3-b848-2f33333c8914" providerId="ADAL" clId="{AE2836E8-C014-4449-88FB-517CF90F5788}" dt="2026-06-26T16:40:57.076" v="331" actId="20577"/>
          <ac:spMkLst>
            <pc:docMk/>
            <pc:sldMk cId="387643073" sldId="276"/>
            <ac:spMk id="14" creationId="{6C7A25BA-7E5F-6D9A-3A73-98465395E68A}"/>
          </ac:spMkLst>
        </pc:spChg>
        <pc:spChg chg="add mod">
          <ac:chgData name="Marcelo Denis" userId="ddb8f2aa-8d07-42f3-b848-2f33333c8914" providerId="ADAL" clId="{AE2836E8-C014-4449-88FB-517CF90F5788}" dt="2026-06-26T16:43:27.196" v="346" actId="108"/>
          <ac:spMkLst>
            <pc:docMk/>
            <pc:sldMk cId="387643073" sldId="276"/>
            <ac:spMk id="15" creationId="{703D6520-1680-E9B4-F230-D3D50B9B67A1}"/>
          </ac:spMkLst>
        </pc:spChg>
        <pc:spChg chg="add mod">
          <ac:chgData name="Marcelo Denis" userId="ddb8f2aa-8d07-42f3-b848-2f33333c8914" providerId="ADAL" clId="{AE2836E8-C014-4449-88FB-517CF90F5788}" dt="2026-06-26T16:41:05.574" v="333" actId="1076"/>
          <ac:spMkLst>
            <pc:docMk/>
            <pc:sldMk cId="387643073" sldId="276"/>
            <ac:spMk id="16" creationId="{288E2CDB-740E-777F-7AFB-FD952F64149F}"/>
          </ac:spMkLst>
        </pc:spChg>
        <pc:spChg chg="add mod">
          <ac:chgData name="Marcelo Denis" userId="ddb8f2aa-8d07-42f3-b848-2f33333c8914" providerId="ADAL" clId="{AE2836E8-C014-4449-88FB-517CF90F5788}" dt="2026-06-26T16:41:05.574" v="333" actId="1076"/>
          <ac:spMkLst>
            <pc:docMk/>
            <pc:sldMk cId="387643073" sldId="276"/>
            <ac:spMk id="17" creationId="{C482CD1E-0032-7CD1-580B-3204C32D638C}"/>
          </ac:spMkLst>
        </pc:spChg>
        <pc:spChg chg="add mod">
          <ac:chgData name="Marcelo Denis" userId="ddb8f2aa-8d07-42f3-b848-2f33333c8914" providerId="ADAL" clId="{AE2836E8-C014-4449-88FB-517CF90F5788}" dt="2026-06-26T16:41:05.574" v="333" actId="1076"/>
          <ac:spMkLst>
            <pc:docMk/>
            <pc:sldMk cId="387643073" sldId="276"/>
            <ac:spMk id="18" creationId="{5C4F9C02-017C-BFE7-B285-5412142CFA24}"/>
          </ac:spMkLst>
        </pc:spChg>
        <pc:spChg chg="add mod">
          <ac:chgData name="Marcelo Denis" userId="ddb8f2aa-8d07-42f3-b848-2f33333c8914" providerId="ADAL" clId="{AE2836E8-C014-4449-88FB-517CF90F5788}" dt="2026-06-26T16:43:20.525" v="345" actId="108"/>
          <ac:spMkLst>
            <pc:docMk/>
            <pc:sldMk cId="387643073" sldId="276"/>
            <ac:spMk id="19" creationId="{F7DC5574-5C6B-395F-AC3C-D03FB8E3AA85}"/>
          </ac:spMkLst>
        </pc:spChg>
        <pc:spChg chg="mod">
          <ac:chgData name="Marcelo Denis" userId="ddb8f2aa-8d07-42f3-b848-2f33333c8914" providerId="ADAL" clId="{AE2836E8-C014-4449-88FB-517CF90F5788}" dt="2026-06-26T16:36:07.154" v="237" actId="14100"/>
          <ac:spMkLst>
            <pc:docMk/>
            <pc:sldMk cId="387643073" sldId="276"/>
            <ac:spMk id="820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07.154" v="237" actId="14100"/>
          <ac:spMkLst>
            <pc:docMk/>
            <pc:sldMk cId="387643073" sldId="276"/>
            <ac:spMk id="821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07.154" v="237" actId="14100"/>
          <ac:spMkLst>
            <pc:docMk/>
            <pc:sldMk cId="387643073" sldId="276"/>
            <ac:spMk id="822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07.169" v="238" actId="27636"/>
          <ac:spMkLst>
            <pc:docMk/>
            <pc:sldMk cId="387643073" sldId="276"/>
            <ac:spMk id="823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07.154" v="237" actId="14100"/>
          <ac:spMkLst>
            <pc:docMk/>
            <pc:sldMk cId="387643073" sldId="276"/>
            <ac:spMk id="824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18.626" v="241" actId="1076"/>
          <ac:spMkLst>
            <pc:docMk/>
            <pc:sldMk cId="387643073" sldId="276"/>
            <ac:spMk id="825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18.626" v="241" actId="1076"/>
          <ac:spMkLst>
            <pc:docMk/>
            <pc:sldMk cId="387643073" sldId="276"/>
            <ac:spMk id="826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18.626" v="241" actId="1076"/>
          <ac:spMkLst>
            <pc:docMk/>
            <pc:sldMk cId="387643073" sldId="276"/>
            <ac:spMk id="827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18.626" v="241" actId="1076"/>
          <ac:spMkLst>
            <pc:docMk/>
            <pc:sldMk cId="387643073" sldId="276"/>
            <ac:spMk id="828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18.626" v="241" actId="1076"/>
          <ac:spMkLst>
            <pc:docMk/>
            <pc:sldMk cId="387643073" sldId="276"/>
            <ac:spMk id="829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25.395" v="245" actId="1076"/>
          <ac:spMkLst>
            <pc:docMk/>
            <pc:sldMk cId="387643073" sldId="276"/>
            <ac:spMk id="830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25.395" v="245" actId="1076"/>
          <ac:spMkLst>
            <pc:docMk/>
            <pc:sldMk cId="387643073" sldId="276"/>
            <ac:spMk id="831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25.395" v="245" actId="1076"/>
          <ac:spMkLst>
            <pc:docMk/>
            <pc:sldMk cId="387643073" sldId="276"/>
            <ac:spMk id="832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25.395" v="245" actId="1076"/>
          <ac:spMkLst>
            <pc:docMk/>
            <pc:sldMk cId="387643073" sldId="276"/>
            <ac:spMk id="833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25.395" v="245" actId="1076"/>
          <ac:spMkLst>
            <pc:docMk/>
            <pc:sldMk cId="387643073" sldId="276"/>
            <ac:spMk id="834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40.648" v="248" actId="1076"/>
          <ac:spMkLst>
            <pc:docMk/>
            <pc:sldMk cId="387643073" sldId="276"/>
            <ac:spMk id="835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40.648" v="248" actId="1076"/>
          <ac:spMkLst>
            <pc:docMk/>
            <pc:sldMk cId="387643073" sldId="276"/>
            <ac:spMk id="836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40.648" v="248" actId="1076"/>
          <ac:spMkLst>
            <pc:docMk/>
            <pc:sldMk cId="387643073" sldId="276"/>
            <ac:spMk id="837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40:06.867" v="289" actId="14100"/>
          <ac:spMkLst>
            <pc:docMk/>
            <pc:sldMk cId="387643073" sldId="276"/>
            <ac:spMk id="838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40.648" v="248" actId="1076"/>
          <ac:spMkLst>
            <pc:docMk/>
            <pc:sldMk cId="387643073" sldId="276"/>
            <ac:spMk id="839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53.730" v="252" actId="1076"/>
          <ac:spMkLst>
            <pc:docMk/>
            <pc:sldMk cId="387643073" sldId="276"/>
            <ac:spMk id="840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59.810" v="253" actId="1076"/>
          <ac:spMkLst>
            <pc:docMk/>
            <pc:sldMk cId="387643073" sldId="276"/>
            <ac:spMk id="841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59.810" v="253" actId="1076"/>
          <ac:spMkLst>
            <pc:docMk/>
            <pc:sldMk cId="387643073" sldId="276"/>
            <ac:spMk id="842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59.810" v="253" actId="1076"/>
          <ac:spMkLst>
            <pc:docMk/>
            <pc:sldMk cId="387643073" sldId="276"/>
            <ac:spMk id="843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6:59.810" v="253" actId="1076"/>
          <ac:spMkLst>
            <pc:docMk/>
            <pc:sldMk cId="387643073" sldId="276"/>
            <ac:spMk id="844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9:24.452" v="286" actId="14100"/>
          <ac:spMkLst>
            <pc:docMk/>
            <pc:sldMk cId="387643073" sldId="276"/>
            <ac:spMk id="845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7:21.041" v="259" actId="1076"/>
          <ac:spMkLst>
            <pc:docMk/>
            <pc:sldMk cId="387643073" sldId="276"/>
            <ac:spMk id="846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9:30.694" v="288" actId="14100"/>
          <ac:spMkLst>
            <pc:docMk/>
            <pc:sldMk cId="387643073" sldId="276"/>
            <ac:spMk id="847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7:21.041" v="259" actId="1076"/>
          <ac:spMkLst>
            <pc:docMk/>
            <pc:sldMk cId="387643073" sldId="276"/>
            <ac:spMk id="848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7:21.041" v="259" actId="1076"/>
          <ac:spMkLst>
            <pc:docMk/>
            <pc:sldMk cId="387643073" sldId="276"/>
            <ac:spMk id="849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7:44.106" v="265" actId="1076"/>
          <ac:spMkLst>
            <pc:docMk/>
            <pc:sldMk cId="387643073" sldId="276"/>
            <ac:spMk id="850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7:39.466" v="264" actId="1076"/>
          <ac:spMkLst>
            <pc:docMk/>
            <pc:sldMk cId="387643073" sldId="276"/>
            <ac:spMk id="851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43:10.178" v="343" actId="108"/>
          <ac:spMkLst>
            <pc:docMk/>
            <pc:sldMk cId="387643073" sldId="276"/>
            <ac:spMk id="852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7:39.466" v="264" actId="1076"/>
          <ac:spMkLst>
            <pc:docMk/>
            <pc:sldMk cId="387643073" sldId="276"/>
            <ac:spMk id="853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7:39.466" v="264" actId="1076"/>
          <ac:spMkLst>
            <pc:docMk/>
            <pc:sldMk cId="387643073" sldId="276"/>
            <ac:spMk id="854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8:26.064" v="276" actId="1076"/>
          <ac:spMkLst>
            <pc:docMk/>
            <pc:sldMk cId="387643073" sldId="276"/>
            <ac:spMk id="855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8:26.064" v="276" actId="1076"/>
          <ac:spMkLst>
            <pc:docMk/>
            <pc:sldMk cId="387643073" sldId="276"/>
            <ac:spMk id="856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43:04.189" v="342" actId="108"/>
          <ac:spMkLst>
            <pc:docMk/>
            <pc:sldMk cId="387643073" sldId="276"/>
            <ac:spMk id="857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8:26.064" v="276" actId="1076"/>
          <ac:spMkLst>
            <pc:docMk/>
            <pc:sldMk cId="387643073" sldId="276"/>
            <ac:spMk id="858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8:31.278" v="278" actId="1076"/>
          <ac:spMkLst>
            <pc:docMk/>
            <pc:sldMk cId="387643073" sldId="276"/>
            <ac:spMk id="859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8:37.798" v="279" actId="1076"/>
          <ac:spMkLst>
            <pc:docMk/>
            <pc:sldMk cId="387643073" sldId="276"/>
            <ac:spMk id="860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42:57.953" v="341" actId="14100"/>
          <ac:spMkLst>
            <pc:docMk/>
            <pc:sldMk cId="387643073" sldId="276"/>
            <ac:spMk id="861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42:52.882" v="340" actId="1038"/>
          <ac:spMkLst>
            <pc:docMk/>
            <pc:sldMk cId="387643073" sldId="276"/>
            <ac:spMk id="862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8:41.577" v="280" actId="1076"/>
          <ac:spMkLst>
            <pc:docMk/>
            <pc:sldMk cId="387643073" sldId="276"/>
            <ac:spMk id="863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38:37.798" v="279" actId="1076"/>
          <ac:spMkLst>
            <pc:docMk/>
            <pc:sldMk cId="387643073" sldId="276"/>
            <ac:spMk id="864" creationId="{00000000-0000-0000-0000-000000000000}"/>
          </ac:spMkLst>
        </pc:spChg>
      </pc:sldChg>
      <pc:sldChg chg="modSp mod">
        <pc:chgData name="Marcelo Denis" userId="ddb8f2aa-8d07-42f3-b848-2f33333c8914" providerId="ADAL" clId="{AE2836E8-C014-4449-88FB-517CF90F5788}" dt="2026-06-26T16:45:18.284" v="355" actId="207"/>
        <pc:sldMkLst>
          <pc:docMk/>
          <pc:sldMk cId="218130848" sldId="286"/>
        </pc:sldMkLst>
        <pc:spChg chg="mod">
          <ac:chgData name="Marcelo Denis" userId="ddb8f2aa-8d07-42f3-b848-2f33333c8914" providerId="ADAL" clId="{AE2836E8-C014-4449-88FB-517CF90F5788}" dt="2026-06-26T16:45:04.760" v="350" actId="207"/>
          <ac:spMkLst>
            <pc:docMk/>
            <pc:sldMk cId="218130848" sldId="286"/>
            <ac:spMk id="845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45:13.779" v="353" actId="207"/>
          <ac:spMkLst>
            <pc:docMk/>
            <pc:sldMk cId="218130848" sldId="286"/>
            <ac:spMk id="848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45:08.814" v="351" actId="207"/>
          <ac:spMkLst>
            <pc:docMk/>
            <pc:sldMk cId="218130848" sldId="286"/>
            <ac:spMk id="851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45:18.284" v="355" actId="207"/>
          <ac:spMkLst>
            <pc:docMk/>
            <pc:sldMk cId="218130848" sldId="286"/>
            <ac:spMk id="854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45:11.534" v="352" actId="207"/>
          <ac:spMkLst>
            <pc:docMk/>
            <pc:sldMk cId="218130848" sldId="286"/>
            <ac:spMk id="857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45:16.189" v="354" actId="207"/>
          <ac:spMkLst>
            <pc:docMk/>
            <pc:sldMk cId="218130848" sldId="286"/>
            <ac:spMk id="860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44:53.956" v="349" actId="207"/>
          <ac:spMkLst>
            <pc:docMk/>
            <pc:sldMk cId="218130848" sldId="286"/>
            <ac:spMk id="901" creationId="{00000000-0000-0000-0000-000000000000}"/>
          </ac:spMkLst>
        </pc:spChg>
        <pc:spChg chg="mod">
          <ac:chgData name="Marcelo Denis" userId="ddb8f2aa-8d07-42f3-b848-2f33333c8914" providerId="ADAL" clId="{AE2836E8-C014-4449-88FB-517CF90F5788}" dt="2026-06-26T16:44:51.370" v="348" actId="207"/>
          <ac:spMkLst>
            <pc:docMk/>
            <pc:sldMk cId="218130848" sldId="286"/>
            <ac:spMk id="902" creationId="{00000000-0000-0000-0000-000000000000}"/>
          </ac:spMkLst>
        </pc:spChg>
      </pc:sldChg>
      <pc:sldChg chg="addSp delSp modSp add mod">
        <pc:chgData name="Marcelo Denis" userId="ddb8f2aa-8d07-42f3-b848-2f33333c8914" providerId="ADAL" clId="{AE2836E8-C014-4449-88FB-517CF90F5788}" dt="2026-06-29T12:01:18.634" v="360" actId="1076"/>
        <pc:sldMkLst>
          <pc:docMk/>
          <pc:sldMk cId="559492386" sldId="293"/>
        </pc:sldMkLst>
        <pc:spChg chg="del">
          <ac:chgData name="Marcelo Denis" userId="ddb8f2aa-8d07-42f3-b848-2f33333c8914" providerId="ADAL" clId="{AE2836E8-C014-4449-88FB-517CF90F5788}" dt="2026-06-29T12:01:13.305" v="357" actId="478"/>
          <ac:spMkLst>
            <pc:docMk/>
            <pc:sldMk cId="559492386" sldId="293"/>
            <ac:spMk id="820" creationId="{7C40CDAE-F0F8-AF9D-7040-9F00FB9B3CFF}"/>
          </ac:spMkLst>
        </pc:spChg>
        <pc:spChg chg="del">
          <ac:chgData name="Marcelo Denis" userId="ddb8f2aa-8d07-42f3-b848-2f33333c8914" providerId="ADAL" clId="{AE2836E8-C014-4449-88FB-517CF90F5788}" dt="2026-06-29T12:01:13.305" v="357" actId="478"/>
          <ac:spMkLst>
            <pc:docMk/>
            <pc:sldMk cId="559492386" sldId="293"/>
            <ac:spMk id="822" creationId="{10E38E15-E3AA-B394-430D-B895A539CB57}"/>
          </ac:spMkLst>
        </pc:spChg>
        <pc:spChg chg="del">
          <ac:chgData name="Marcelo Denis" userId="ddb8f2aa-8d07-42f3-b848-2f33333c8914" providerId="ADAL" clId="{AE2836E8-C014-4449-88FB-517CF90F5788}" dt="2026-06-29T12:01:13.305" v="357" actId="478"/>
          <ac:spMkLst>
            <pc:docMk/>
            <pc:sldMk cId="559492386" sldId="293"/>
            <ac:spMk id="823" creationId="{63FDB044-AC6B-8B89-B683-724E8EF0ACD2}"/>
          </ac:spMkLst>
        </pc:spChg>
        <pc:spChg chg="del">
          <ac:chgData name="Marcelo Denis" userId="ddb8f2aa-8d07-42f3-b848-2f33333c8914" providerId="ADAL" clId="{AE2836E8-C014-4449-88FB-517CF90F5788}" dt="2026-06-29T12:01:13.305" v="357" actId="478"/>
          <ac:spMkLst>
            <pc:docMk/>
            <pc:sldMk cId="559492386" sldId="293"/>
            <ac:spMk id="826" creationId="{ECFD059E-B5B5-50AC-0BFB-E077E0259D56}"/>
          </ac:spMkLst>
        </pc:spChg>
        <pc:spChg chg="del">
          <ac:chgData name="Marcelo Denis" userId="ddb8f2aa-8d07-42f3-b848-2f33333c8914" providerId="ADAL" clId="{AE2836E8-C014-4449-88FB-517CF90F5788}" dt="2026-06-29T12:01:13.305" v="357" actId="478"/>
          <ac:spMkLst>
            <pc:docMk/>
            <pc:sldMk cId="559492386" sldId="293"/>
            <ac:spMk id="829" creationId="{777A38CF-4785-5733-6E69-77E57987D05A}"/>
          </ac:spMkLst>
        </pc:spChg>
        <pc:spChg chg="del">
          <ac:chgData name="Marcelo Denis" userId="ddb8f2aa-8d07-42f3-b848-2f33333c8914" providerId="ADAL" clId="{AE2836E8-C014-4449-88FB-517CF90F5788}" dt="2026-06-29T12:01:13.305" v="357" actId="478"/>
          <ac:spMkLst>
            <pc:docMk/>
            <pc:sldMk cId="559492386" sldId="293"/>
            <ac:spMk id="830" creationId="{CA5945FF-FA87-8CF8-DE99-30602D6D3FDA}"/>
          </ac:spMkLst>
        </pc:spChg>
        <pc:spChg chg="del">
          <ac:chgData name="Marcelo Denis" userId="ddb8f2aa-8d07-42f3-b848-2f33333c8914" providerId="ADAL" clId="{AE2836E8-C014-4449-88FB-517CF90F5788}" dt="2026-06-29T12:01:13.305" v="357" actId="478"/>
          <ac:spMkLst>
            <pc:docMk/>
            <pc:sldMk cId="559492386" sldId="293"/>
            <ac:spMk id="833" creationId="{58410499-0563-4A72-50D5-F0807BABE3E8}"/>
          </ac:spMkLst>
        </pc:spChg>
        <pc:spChg chg="del">
          <ac:chgData name="Marcelo Denis" userId="ddb8f2aa-8d07-42f3-b848-2f33333c8914" providerId="ADAL" clId="{AE2836E8-C014-4449-88FB-517CF90F5788}" dt="2026-06-29T12:01:13.305" v="357" actId="478"/>
          <ac:spMkLst>
            <pc:docMk/>
            <pc:sldMk cId="559492386" sldId="293"/>
            <ac:spMk id="834" creationId="{CE355024-3D65-DBB5-D59A-D8BDAC4AC03C}"/>
          </ac:spMkLst>
        </pc:spChg>
        <pc:spChg chg="del">
          <ac:chgData name="Marcelo Denis" userId="ddb8f2aa-8d07-42f3-b848-2f33333c8914" providerId="ADAL" clId="{AE2836E8-C014-4449-88FB-517CF90F5788}" dt="2026-06-29T12:01:13.305" v="357" actId="478"/>
          <ac:spMkLst>
            <pc:docMk/>
            <pc:sldMk cId="559492386" sldId="293"/>
            <ac:spMk id="835" creationId="{952F4731-22B5-414C-691F-16DC293A8CD9}"/>
          </ac:spMkLst>
        </pc:spChg>
        <pc:spChg chg="del">
          <ac:chgData name="Marcelo Denis" userId="ddb8f2aa-8d07-42f3-b848-2f33333c8914" providerId="ADAL" clId="{AE2836E8-C014-4449-88FB-517CF90F5788}" dt="2026-06-29T12:01:13.305" v="357" actId="478"/>
          <ac:spMkLst>
            <pc:docMk/>
            <pc:sldMk cId="559492386" sldId="293"/>
            <ac:spMk id="837" creationId="{E830DD8E-0452-04F6-29BA-835E7F39E477}"/>
          </ac:spMkLst>
        </pc:spChg>
        <pc:picChg chg="add mod">
          <ac:chgData name="Marcelo Denis" userId="ddb8f2aa-8d07-42f3-b848-2f33333c8914" providerId="ADAL" clId="{AE2836E8-C014-4449-88FB-517CF90F5788}" dt="2026-06-29T12:01:18.634" v="360" actId="1076"/>
          <ac:picMkLst>
            <pc:docMk/>
            <pc:sldMk cId="559492386" sldId="293"/>
            <ac:picMk id="4" creationId="{6E56EE97-E176-5EDC-E125-4C0C9D6259AD}"/>
          </ac:picMkLst>
        </pc:picChg>
      </pc:sldChg>
      <pc:sldChg chg="addSp delSp modSp add mod ord">
        <pc:chgData name="Marcelo Denis" userId="ddb8f2aa-8d07-42f3-b848-2f33333c8914" providerId="ADAL" clId="{AE2836E8-C014-4449-88FB-517CF90F5788}" dt="2026-06-29T12:02:00.180" v="366"/>
        <pc:sldMkLst>
          <pc:docMk/>
          <pc:sldMk cId="1982405029" sldId="294"/>
        </pc:sldMkLst>
        <pc:picChg chg="del">
          <ac:chgData name="Marcelo Denis" userId="ddb8f2aa-8d07-42f3-b848-2f33333c8914" providerId="ADAL" clId="{AE2836E8-C014-4449-88FB-517CF90F5788}" dt="2026-06-29T12:01:53.504" v="362" actId="478"/>
          <ac:picMkLst>
            <pc:docMk/>
            <pc:sldMk cId="1982405029" sldId="294"/>
            <ac:picMk id="4" creationId="{33EF0150-133C-CC4B-4879-A3C61DF40C95}"/>
          </ac:picMkLst>
        </pc:picChg>
        <pc:picChg chg="add mod">
          <ac:chgData name="Marcelo Denis" userId="ddb8f2aa-8d07-42f3-b848-2f33333c8914" providerId="ADAL" clId="{AE2836E8-C014-4449-88FB-517CF90F5788}" dt="2026-06-29T12:01:57.308" v="364" actId="1076"/>
          <ac:picMkLst>
            <pc:docMk/>
            <pc:sldMk cId="1982405029" sldId="294"/>
            <ac:picMk id="5" creationId="{25B1602E-B14A-07BB-6068-BEE2112A084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5ABE5-7F92-6F20-69AB-F5C615834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365EC0-59C5-41FB-FB6C-0127277D0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F9A46-2A1D-1720-395A-DD6924475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3F55-D594-4427-99EA-84033C574FBC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418E95-EE1B-DCD2-5110-4CD944D26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10C868-A1B6-E344-D44E-A81BC726D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4C7C-623F-48D4-BCD3-B2CB5E9231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8446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1961A-4BA8-9C79-BDF1-43E89AD80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4BF270-3F0A-1AEA-1E8F-7D5865919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70F5CB-3AC0-B5B0-96A1-AF855657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3F55-D594-4427-99EA-84033C574FBC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F85366-C335-6C23-FAA0-17ED56833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A04052-9145-FBF5-DA60-4CA2EA312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4C7C-623F-48D4-BCD3-B2CB5E9231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1543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82C7A-9021-4262-577A-362D85BC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B5EF95-D1A0-CD66-35A1-3ED931246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F25B32-5F40-62EF-1B43-C2FF07375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3F55-D594-4427-99EA-84033C574FBC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1C951A-D6C0-01D6-93A9-EF2C6A6D8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07D540-B0F2-578A-4653-EBD3FC2A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4C7C-623F-48D4-BCD3-B2CB5E9231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46280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571A42-95D5-8D36-313A-BDE257C18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DF4134-08B5-7505-E4DB-866AFAD19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AC49BE-AA54-6A2C-4B01-68D0B42EF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E1E0F9-6EF0-E4C2-B3AA-C89238D7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3F55-D594-4427-99EA-84033C574FBC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AD388E-3198-DAB5-1289-CC48D84B7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EE7500-3978-22FE-CEB0-BD44E9FA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4C7C-623F-48D4-BCD3-B2CB5E9231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5259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07121-B508-99C8-00A1-C86C8AFD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54C68-EF44-42AA-B35F-49525F7F7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87F72D-F9E6-4002-1EEC-0392505CD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D0D039-6D35-0AAC-1CCB-CF856F1DD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63346C1-4DD6-5FE5-D42B-EDA866134A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BE0615F-124C-E83F-97D3-3728160BD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3F55-D594-4427-99EA-84033C574FBC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B1A53B-F3CA-1817-DB4E-DCA9E1307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61F9D3D-D2A4-D9D7-2EE5-2A4640C4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4C7C-623F-48D4-BCD3-B2CB5E9231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41436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FC87D-76DE-D544-9E75-8291C948D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F4E3A54-8A90-AA78-E7E4-78F82DFC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3F55-D594-4427-99EA-84033C574FBC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329019-975D-EB11-F1EA-077B9A6DC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D74E03B-F857-E1C1-F980-8C25925C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4C7C-623F-48D4-BCD3-B2CB5E9231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690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AA73BEB-A2A2-3755-0A80-832812762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3F55-D594-4427-99EA-84033C574FBC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9E5B1F-092D-2B8F-303A-15F5066D5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17A596-8380-1F5B-384E-234045C77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4C7C-623F-48D4-BCD3-B2CB5E9231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048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402FE-B903-388B-5F44-DF30085FE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BD366B-6F15-636F-DCF8-841A0EE56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C9876D5-54E0-CDD2-12A7-8615E8DD7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A22BDA-8826-D6B7-263C-D24EA0E82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3F55-D594-4427-99EA-84033C574FBC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F4A325-1E21-0A75-FB33-520F9A9D1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EE06B9-0C7A-0188-2F83-940F7416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4C7C-623F-48D4-BCD3-B2CB5E9231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1705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5E0B1-8A30-D656-D969-EA1B13DB7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1577E9F-CF9C-E703-C259-EC4D265B9A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A48BF2-9E25-E757-4B90-456EC4D9C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3BD8EA-71A8-2E31-6503-3DAD11957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3F55-D594-4427-99EA-84033C574FBC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A6652E-83B9-1626-0F2A-40C1F4811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221D11-9F48-9C79-27E5-CB619D3C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4C7C-623F-48D4-BCD3-B2CB5E9231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4443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B04D59-47E4-E2C7-3555-C8CB547B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F2EF60-210E-22C1-FC61-6A719562F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D8DB12-97CC-ADB2-350A-0F2ADE21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3F55-D594-4427-99EA-84033C574FBC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406470-A27E-4D60-6103-077C8EEB9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DB4550-BDF8-D166-EF1D-F9DFF4DE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4C7C-623F-48D4-BCD3-B2CB5E9231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592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35BAD2-739E-3DFD-491A-704389928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7AF6A7-651D-A769-3F12-34690A95F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01B6DC-4D2B-5B72-5086-F2266B354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3F55-D594-4427-99EA-84033C574FBC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59B36E-7540-4AB2-3E87-0D089DBBF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02A156-7266-1702-4D39-58FA64FB3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4C7C-623F-48D4-BCD3-B2CB5E9231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80535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F76DDE2-22DB-C771-7271-CCFAAEEC1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337F4C-43F0-80D0-CFD2-74C4132F8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FB50D2-1D43-87E3-A7AE-E83D066863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F3F55-D594-4427-99EA-84033C574FBC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A6679D-C8C9-6AE3-5BF7-EDBA97451F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94E85E-4105-11F0-82DA-C7E48F364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14C7C-623F-48D4-BCD3-B2CB5E9231C6}" type="slidenum">
              <a:rPr lang="es-AR" smtClean="0"/>
              <a:t>‹Nº›</a:t>
            </a:fld>
            <a:endParaRPr lang="es-AR"/>
          </a:p>
        </p:txBody>
      </p:sp>
      <p:grpSp>
        <p:nvGrpSpPr>
          <p:cNvPr id="900" name="Deco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01" name="corner"/>
            <p:cNvSpPr/>
            <p:nvPr/>
          </p:nvSpPr>
          <p:spPr>
            <a:xfrm>
              <a:off x="11430000" y="6477000"/>
              <a:ext cx="762000" cy="381000"/>
            </a:xfrm>
            <a:prstGeom prst="rtTriangle">
              <a:avLst/>
            </a:prstGeom>
            <a:solidFill>
              <a:srgbClr val="15608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82203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E284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414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598E9-7139-85B7-ADBD-E23C1B15B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311400"/>
            <a:ext cx="9906000" cy="2032000"/>
          </a:xfrm>
        </p:spPr>
        <p:txBody>
          <a:bodyPr/>
          <a:lstStyle/>
          <a:p>
            <a:pPr algn="l"/>
            <a:r>
              <a:rPr lang="es-AR" sz="4000" b="1" dirty="0">
                <a:solidFill>
                  <a:srgbClr val="0E2841"/>
                </a:solidFill>
              </a:rPr>
              <a:t>Modernización del Punto de Venta de Promociones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5F4544-ABD5-1C09-DC6D-5C06E2E3B2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419600"/>
            <a:ext cx="9652000" cy="558800"/>
          </a:xfrm>
        </p:spPr>
        <p:txBody>
          <a:bodyPr/>
          <a:lstStyle/>
          <a:p>
            <a:pPr algn="l"/>
            <a:r>
              <a:rPr lang="es-AR" sz="2000" dirty="0">
                <a:solidFill>
                  <a:srgbClr val="156082"/>
                </a:solidFill>
              </a:rPr>
              <a:t>De planilla Excel a una aplicación web</a:t>
            </a:r>
          </a:p>
        </p:txBody>
      </p:sp>
      <p:sp>
        <p:nvSpPr>
          <p:cNvPr id="910" name="Lef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" name="Rule"/>
          <p:cNvSpPr/>
          <p:nvPr/>
        </p:nvSpPr>
        <p:spPr>
          <a:xfrm>
            <a:off x="1143000" y="4191000"/>
            <a:ext cx="736600" cy="508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2" name="Kicker"/>
          <p:cNvSpPr txBox="1"/>
          <p:nvPr/>
        </p:nvSpPr>
        <p:spPr>
          <a:xfrm>
            <a:off x="1143000" y="1905000"/>
            <a:ext cx="9906000" cy="3556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AR" sz="1400" b="1" spc="300" dirty="0">
                <a:solidFill>
                  <a:srgbClr val="E97132"/>
                </a:solidFill>
              </a:rPr>
              <a:t>DOCUMENTO DE PROCESOS Y REQUERIMIENTOS</a:t>
            </a:r>
          </a:p>
        </p:txBody>
      </p:sp>
      <p:sp>
        <p:nvSpPr>
          <p:cNvPr id="913" name="Footer"/>
          <p:cNvSpPr txBox="1"/>
          <p:nvPr/>
        </p:nvSpPr>
        <p:spPr>
          <a:xfrm>
            <a:off x="1143000" y="6045200"/>
            <a:ext cx="10160000" cy="3556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AR" sz="1300" dirty="0">
                <a:solidFill>
                  <a:srgbClr val="6B7785"/>
                </a:solidFill>
              </a:rPr>
              <a:t>Documento base para presentación a proveedor de desarrollo   ·   Versión 1.0   ·   Junio 2026</a:t>
            </a:r>
          </a:p>
        </p:txBody>
      </p:sp>
      <p:sp>
        <p:nvSpPr>
          <p:cNvPr id="950" name="LeftBar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895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841FB-8A49-6DF0-3FBF-F072CF7E5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200"/>
            <a:ext cx="10414000" cy="711200"/>
          </a:xfrm>
        </p:spPr>
        <p:txBody>
          <a:bodyPr/>
          <a:lstStyle/>
          <a:p>
            <a:pPr algn="l"/>
            <a:r>
              <a:rPr lang="es-AR" sz="3200" b="1" dirty="0">
                <a:solidFill>
                  <a:srgbClr val="0E2841"/>
                </a:solidFill>
              </a:rPr>
              <a:t>Objetivo del documento</a:t>
            </a:r>
          </a:p>
        </p:txBody>
      </p:sp>
      <p:sp>
        <p:nvSpPr>
          <p:cNvPr id="800" name="kicker"/>
          <p:cNvSpPr txBox="1"/>
          <p:nvPr/>
        </p:nvSpPr>
        <p:spPr>
          <a:xfrm>
            <a:off x="838200" y="381000"/>
            <a:ext cx="10414000" cy="3048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300" b="1" spc="240" dirty="0">
                <a:solidFill>
                  <a:srgbClr val="E97132"/>
                </a:solidFill>
              </a:rPr>
              <a:t>SECCIÓN 1 · INTRODUCCIÓN</a:t>
            </a:r>
          </a:p>
        </p:txBody>
      </p:sp>
      <p:sp>
        <p:nvSpPr>
          <p:cNvPr id="801" name="intro"/>
          <p:cNvSpPr txBox="1"/>
          <p:nvPr/>
        </p:nvSpPr>
        <p:spPr>
          <a:xfrm>
            <a:off x="838200" y="1397000"/>
            <a:ext cx="10668000" cy="6096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600" dirty="0">
                <a:solidFill>
                  <a:srgbClr val="33414F"/>
                </a:solidFill>
              </a:rPr>
              <a:t>Establecer una base común de entendimiento —procesos, estructura de datos y requerimientos— para que el proveedor pueda dimensionar y cotizar el desarrollo.</a:t>
            </a:r>
          </a:p>
        </p:txBody>
      </p:sp>
      <p:sp>
        <p:nvSpPr>
          <p:cNvPr id="820" name="card0"/>
          <p:cNvSpPr/>
          <p:nvPr/>
        </p:nvSpPr>
        <p:spPr>
          <a:xfrm>
            <a:off x="838200" y="2413000"/>
            <a:ext cx="3200400" cy="2438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1" name="bar0"/>
          <p:cNvSpPr/>
          <p:nvPr/>
        </p:nvSpPr>
        <p:spPr>
          <a:xfrm>
            <a:off x="838200" y="2413000"/>
            <a:ext cx="3200400" cy="762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2" name="chip0"/>
          <p:cNvSpPr/>
          <p:nvPr/>
        </p:nvSpPr>
        <p:spPr>
          <a:xfrm>
            <a:off x="1117600" y="2743200"/>
            <a:ext cx="584200" cy="584200"/>
          </a:xfrm>
          <a:prstGeom prst="roundRect">
            <a:avLst>
              <a:gd name="adj" fmla="val 8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3" name="num0"/>
          <p:cNvSpPr txBox="1"/>
          <p:nvPr/>
        </p:nvSpPr>
        <p:spPr>
          <a:xfrm>
            <a:off x="1117600" y="2743200"/>
            <a:ext cx="584200" cy="584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s-A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24" name="st0"/>
          <p:cNvSpPr txBox="1"/>
          <p:nvPr/>
        </p:nvSpPr>
        <p:spPr>
          <a:xfrm>
            <a:off x="1117600" y="3505200"/>
            <a:ext cx="2641600" cy="228600"/>
          </a:xfrm>
          <a:prstGeom prst="rect">
            <a:avLst/>
          </a:prstGeom>
          <a:noFill/>
        </p:spPr>
        <p:txBody>
          <a:bodyPr wrap="square" rtlCol="0" anchor="t">
            <a:normAutofit fontScale="92500" lnSpcReduction="10000"/>
          </a:bodyPr>
          <a:lstStyle/>
          <a:p>
            <a:r>
              <a:rPr lang="es-AR" sz="1050" b="1" spc="160" dirty="0">
                <a:solidFill>
                  <a:srgbClr val="156082"/>
                </a:solidFill>
              </a:rPr>
              <a:t>AS IS</a:t>
            </a:r>
          </a:p>
        </p:txBody>
      </p:sp>
      <p:sp>
        <p:nvSpPr>
          <p:cNvPr id="825" name="h0"/>
          <p:cNvSpPr txBox="1"/>
          <p:nvPr/>
        </p:nvSpPr>
        <p:spPr>
          <a:xfrm>
            <a:off x="1117600" y="3733800"/>
            <a:ext cx="2641600" cy="381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900" b="1" dirty="0">
                <a:solidFill>
                  <a:srgbClr val="0E2841"/>
                </a:solidFill>
              </a:rPr>
              <a:t>Situación actual</a:t>
            </a:r>
          </a:p>
        </p:txBody>
      </p:sp>
      <p:sp>
        <p:nvSpPr>
          <p:cNvPr id="826" name="b0"/>
          <p:cNvSpPr txBox="1"/>
          <p:nvPr/>
        </p:nvSpPr>
        <p:spPr>
          <a:xfrm>
            <a:off x="1117600" y="4191000"/>
            <a:ext cx="2641600" cy="1143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400" dirty="0">
                <a:solidFill>
                  <a:srgbClr val="46535F"/>
                </a:solidFill>
              </a:rPr>
              <a:t>Cómo funciona hoy el sistema en Excel: las hojas y tablas que lo componen y las limitaciones que presenta.</a:t>
            </a:r>
          </a:p>
        </p:txBody>
      </p:sp>
      <p:sp>
        <p:nvSpPr>
          <p:cNvPr id="827" name="card1"/>
          <p:cNvSpPr/>
          <p:nvPr/>
        </p:nvSpPr>
        <p:spPr>
          <a:xfrm>
            <a:off x="4495800" y="2413000"/>
            <a:ext cx="3200400" cy="2438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8" name="bar1"/>
          <p:cNvSpPr/>
          <p:nvPr/>
        </p:nvSpPr>
        <p:spPr>
          <a:xfrm>
            <a:off x="4495800" y="2413000"/>
            <a:ext cx="3200400" cy="76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9" name="chip1"/>
          <p:cNvSpPr/>
          <p:nvPr/>
        </p:nvSpPr>
        <p:spPr>
          <a:xfrm>
            <a:off x="4775200" y="2743200"/>
            <a:ext cx="584200" cy="584200"/>
          </a:xfrm>
          <a:prstGeom prst="roundRect">
            <a:avLst>
              <a:gd name="adj" fmla="val 8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0" name="num1"/>
          <p:cNvSpPr txBox="1"/>
          <p:nvPr/>
        </p:nvSpPr>
        <p:spPr>
          <a:xfrm>
            <a:off x="4775200" y="2743200"/>
            <a:ext cx="584200" cy="584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s-AR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31" name="st1"/>
          <p:cNvSpPr txBox="1"/>
          <p:nvPr/>
        </p:nvSpPr>
        <p:spPr>
          <a:xfrm>
            <a:off x="4775200" y="3505200"/>
            <a:ext cx="2641600" cy="228600"/>
          </a:xfrm>
          <a:prstGeom prst="rect">
            <a:avLst/>
          </a:prstGeom>
          <a:noFill/>
        </p:spPr>
        <p:txBody>
          <a:bodyPr wrap="square" rtlCol="0" anchor="t">
            <a:normAutofit fontScale="92500" lnSpcReduction="10000"/>
          </a:bodyPr>
          <a:lstStyle/>
          <a:p>
            <a:r>
              <a:rPr lang="es-AR" sz="1050" b="1" spc="160" dirty="0">
                <a:solidFill>
                  <a:srgbClr val="E97132"/>
                </a:solidFill>
              </a:rPr>
              <a:t>TO BE</a:t>
            </a:r>
          </a:p>
        </p:txBody>
      </p:sp>
      <p:sp>
        <p:nvSpPr>
          <p:cNvPr id="832" name="h1"/>
          <p:cNvSpPr txBox="1"/>
          <p:nvPr/>
        </p:nvSpPr>
        <p:spPr>
          <a:xfrm>
            <a:off x="4775200" y="3733800"/>
            <a:ext cx="2641600" cy="381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900" b="1" dirty="0">
                <a:solidFill>
                  <a:srgbClr val="0E2841"/>
                </a:solidFill>
              </a:rPr>
              <a:t>Nueva solución</a:t>
            </a:r>
          </a:p>
        </p:txBody>
      </p:sp>
      <p:sp>
        <p:nvSpPr>
          <p:cNvPr id="833" name="b1"/>
          <p:cNvSpPr txBox="1"/>
          <p:nvPr/>
        </p:nvSpPr>
        <p:spPr>
          <a:xfrm>
            <a:off x="4775200" y="4191000"/>
            <a:ext cx="2641600" cy="1143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400" dirty="0">
                <a:solidFill>
                  <a:srgbClr val="46535F"/>
                </a:solidFill>
              </a:rPr>
              <a:t>Objetivo del desarrollo y requerimientos funcionales, clasificados en Mínimos y Deseables.</a:t>
            </a:r>
          </a:p>
        </p:txBody>
      </p:sp>
      <p:sp>
        <p:nvSpPr>
          <p:cNvPr id="834" name="card2"/>
          <p:cNvSpPr/>
          <p:nvPr/>
        </p:nvSpPr>
        <p:spPr>
          <a:xfrm>
            <a:off x="8153400" y="2413000"/>
            <a:ext cx="3200400" cy="2438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5" name="bar2"/>
          <p:cNvSpPr/>
          <p:nvPr/>
        </p:nvSpPr>
        <p:spPr>
          <a:xfrm>
            <a:off x="8153400" y="2413000"/>
            <a:ext cx="3200400" cy="76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6" name="chip2"/>
          <p:cNvSpPr/>
          <p:nvPr/>
        </p:nvSpPr>
        <p:spPr>
          <a:xfrm>
            <a:off x="8432800" y="2743200"/>
            <a:ext cx="584200" cy="584200"/>
          </a:xfrm>
          <a:prstGeom prst="roundRect">
            <a:avLst>
              <a:gd name="adj" fmla="val 8000"/>
            </a:avLst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7" name="num2"/>
          <p:cNvSpPr txBox="1"/>
          <p:nvPr/>
        </p:nvSpPr>
        <p:spPr>
          <a:xfrm>
            <a:off x="8432800" y="2743200"/>
            <a:ext cx="584200" cy="584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s-AR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38" name="st2"/>
          <p:cNvSpPr txBox="1"/>
          <p:nvPr/>
        </p:nvSpPr>
        <p:spPr>
          <a:xfrm>
            <a:off x="8432800" y="3505200"/>
            <a:ext cx="2641600" cy="228600"/>
          </a:xfrm>
          <a:prstGeom prst="rect">
            <a:avLst/>
          </a:prstGeom>
          <a:noFill/>
        </p:spPr>
        <p:txBody>
          <a:bodyPr wrap="square" rtlCol="0" anchor="t">
            <a:normAutofit fontScale="92500" lnSpcReduction="10000"/>
          </a:bodyPr>
          <a:lstStyle/>
          <a:p>
            <a:r>
              <a:rPr lang="es-AR" sz="1050" b="1" spc="160" dirty="0">
                <a:solidFill>
                  <a:srgbClr val="0F9ED5"/>
                </a:solidFill>
              </a:rPr>
              <a:t>REFERENCIA</a:t>
            </a:r>
          </a:p>
        </p:txBody>
      </p:sp>
      <p:sp>
        <p:nvSpPr>
          <p:cNvPr id="839" name="h2"/>
          <p:cNvSpPr txBox="1"/>
          <p:nvPr/>
        </p:nvSpPr>
        <p:spPr>
          <a:xfrm>
            <a:off x="8432800" y="3733800"/>
            <a:ext cx="2641600" cy="381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900" b="1" dirty="0">
                <a:solidFill>
                  <a:srgbClr val="0E2841"/>
                </a:solidFill>
              </a:rPr>
              <a:t>Anexos</a:t>
            </a:r>
          </a:p>
        </p:txBody>
      </p:sp>
      <p:sp>
        <p:nvSpPr>
          <p:cNvPr id="840" name="b2"/>
          <p:cNvSpPr txBox="1"/>
          <p:nvPr/>
        </p:nvSpPr>
        <p:spPr>
          <a:xfrm>
            <a:off x="8432800" y="4191000"/>
            <a:ext cx="2641600" cy="1143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400" dirty="0">
                <a:solidFill>
                  <a:srgbClr val="46535F"/>
                </a:solidFill>
              </a:rPr>
              <a:t>Detalle de campos, ejemplo real de uso y glosario de términos para dimensionar el desarrollo.</a:t>
            </a:r>
          </a:p>
        </p:txBody>
      </p:sp>
    </p:spTree>
    <p:extLst>
      <p:ext uri="{BB962C8B-B14F-4D97-AF65-F5344CB8AC3E}">
        <p14:creationId xmlns:p14="http://schemas.microsoft.com/office/powerpoint/2010/main" val="3563537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964B91-D98A-A6B3-7A94-EDC398D5B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200"/>
            <a:ext cx="10414000" cy="660400"/>
          </a:xfrm>
        </p:spPr>
        <p:txBody>
          <a:bodyPr/>
          <a:lstStyle/>
          <a:p>
            <a:pPr algn="l"/>
            <a:r>
              <a:rPr lang="es-AR" sz="3200" b="1" dirty="0">
                <a:solidFill>
                  <a:srgbClr val="0E2841"/>
                </a:solidFill>
              </a:rPr>
              <a:t>Situación actual: el Excel de Promociones</a:t>
            </a:r>
          </a:p>
        </p:txBody>
      </p:sp>
      <p:sp>
        <p:nvSpPr>
          <p:cNvPr id="800" name="kicker"/>
          <p:cNvSpPr txBox="1"/>
          <p:nvPr/>
        </p:nvSpPr>
        <p:spPr>
          <a:xfrm>
            <a:off x="838200" y="381000"/>
            <a:ext cx="10414000" cy="3048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300" b="1" spc="240" dirty="0">
                <a:solidFill>
                  <a:srgbClr val="E97132"/>
                </a:solidFill>
              </a:rPr>
              <a:t>SECCIÓN 2 · CÓMO FUNCIONA HOY</a:t>
            </a:r>
          </a:p>
        </p:txBody>
      </p:sp>
      <p:sp>
        <p:nvSpPr>
          <p:cNvPr id="801" name="intro"/>
          <p:cNvSpPr txBox="1"/>
          <p:nvPr/>
        </p:nvSpPr>
        <p:spPr>
          <a:xfrm>
            <a:off x="838200" y="1320800"/>
            <a:ext cx="10668000" cy="508000"/>
          </a:xfrm>
          <a:prstGeom prst="rect">
            <a:avLst/>
          </a:prstGeom>
          <a:noFill/>
        </p:spPr>
        <p:txBody>
          <a:bodyPr wrap="square" rtlCol="0" anchor="t">
            <a:normAutofit fontScale="92500"/>
          </a:bodyPr>
          <a:lstStyle/>
          <a:p>
            <a:r>
              <a:rPr lang="es-AR" sz="1600" dirty="0">
                <a:solidFill>
                  <a:srgbClr val="33414F"/>
                </a:solidFill>
              </a:rPr>
              <a:t>El sistema funciona sobre un archivo Excel compartido —el «Catálogo de Ofertas»— compuesto por dos hojas de trabajo.</a:t>
            </a:r>
          </a:p>
        </p:txBody>
      </p:sp>
      <p:sp>
        <p:nvSpPr>
          <p:cNvPr id="820" name="c0"/>
          <p:cNvSpPr/>
          <p:nvPr/>
        </p:nvSpPr>
        <p:spPr>
          <a:xfrm>
            <a:off x="838200" y="2057400"/>
            <a:ext cx="5080000" cy="1905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1" name="bar0"/>
          <p:cNvSpPr/>
          <p:nvPr/>
        </p:nvSpPr>
        <p:spPr>
          <a:xfrm>
            <a:off x="838200" y="2057400"/>
            <a:ext cx="76200" cy="1905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2" name="s0"/>
          <p:cNvSpPr txBox="1"/>
          <p:nvPr/>
        </p:nvSpPr>
        <p:spPr>
          <a:xfrm>
            <a:off x="1193800" y="2336800"/>
            <a:ext cx="4445000" cy="2032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r>
              <a:rPr lang="es-AR" sz="1050" b="1" spc="160" dirty="0">
                <a:solidFill>
                  <a:srgbClr val="156082"/>
                </a:solidFill>
              </a:rPr>
              <a:t>CATÁLOGO MAESTRO</a:t>
            </a:r>
          </a:p>
        </p:txBody>
      </p:sp>
      <p:sp>
        <p:nvSpPr>
          <p:cNvPr id="823" name="h0"/>
          <p:cNvSpPr txBox="1"/>
          <p:nvPr/>
        </p:nvSpPr>
        <p:spPr>
          <a:xfrm>
            <a:off x="1193800" y="2565400"/>
            <a:ext cx="4445000" cy="381000"/>
          </a:xfrm>
          <a:prstGeom prst="rect">
            <a:avLst/>
          </a:prstGeom>
          <a:noFill/>
        </p:spPr>
        <p:txBody>
          <a:bodyPr wrap="square" rtlCol="0" anchor="t">
            <a:normAutofit lnSpcReduction="10000"/>
          </a:bodyPr>
          <a:lstStyle/>
          <a:p>
            <a:r>
              <a:rPr lang="es-AR" sz="2000" b="1" dirty="0">
                <a:solidFill>
                  <a:srgbClr val="0E2841"/>
                </a:solidFill>
              </a:rPr>
              <a:t>Hoja «Productos»</a:t>
            </a:r>
          </a:p>
        </p:txBody>
      </p:sp>
      <p:sp>
        <p:nvSpPr>
          <p:cNvPr id="824" name="b0"/>
          <p:cNvSpPr txBox="1"/>
          <p:nvPr/>
        </p:nvSpPr>
        <p:spPr>
          <a:xfrm>
            <a:off x="1193800" y="3048000"/>
            <a:ext cx="4445000" cy="8128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450" dirty="0">
                <a:solidFill>
                  <a:srgbClr val="46535F"/>
                </a:solidFill>
              </a:rPr>
              <a:t>Un registro por SKU con la información de cada producto y su oferta (precio, descuento, campaña, cuotas).</a:t>
            </a:r>
          </a:p>
        </p:txBody>
      </p:sp>
      <p:sp>
        <p:nvSpPr>
          <p:cNvPr id="825" name="c1"/>
          <p:cNvSpPr/>
          <p:nvPr/>
        </p:nvSpPr>
        <p:spPr>
          <a:xfrm>
            <a:off x="6273800" y="2057400"/>
            <a:ext cx="5080000" cy="1905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6" name="bar1"/>
          <p:cNvSpPr/>
          <p:nvPr/>
        </p:nvSpPr>
        <p:spPr>
          <a:xfrm>
            <a:off x="6273800" y="2057400"/>
            <a:ext cx="76200" cy="1905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7" name="s1"/>
          <p:cNvSpPr txBox="1"/>
          <p:nvPr/>
        </p:nvSpPr>
        <p:spPr>
          <a:xfrm>
            <a:off x="6629400" y="2336800"/>
            <a:ext cx="4445000" cy="2032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r>
              <a:rPr lang="es-AR" sz="1050" b="1" spc="160" dirty="0">
                <a:solidFill>
                  <a:srgbClr val="0F9ED5"/>
                </a:solidFill>
              </a:rPr>
              <a:t>PANTALLA DE CONSULTA</a:t>
            </a:r>
          </a:p>
        </p:txBody>
      </p:sp>
      <p:sp>
        <p:nvSpPr>
          <p:cNvPr id="828" name="h1"/>
          <p:cNvSpPr txBox="1"/>
          <p:nvPr/>
        </p:nvSpPr>
        <p:spPr>
          <a:xfrm>
            <a:off x="6629400" y="2565400"/>
            <a:ext cx="4445000" cy="381000"/>
          </a:xfrm>
          <a:prstGeom prst="rect">
            <a:avLst/>
          </a:prstGeom>
          <a:noFill/>
        </p:spPr>
        <p:txBody>
          <a:bodyPr wrap="square" rtlCol="0" anchor="t">
            <a:normAutofit lnSpcReduction="10000"/>
          </a:bodyPr>
          <a:lstStyle/>
          <a:p>
            <a:r>
              <a:rPr lang="es-AR" sz="2000" b="1" dirty="0">
                <a:solidFill>
                  <a:srgbClr val="0E2841"/>
                </a:solidFill>
              </a:rPr>
              <a:t>Hoja «Asesora Políticas»</a:t>
            </a:r>
          </a:p>
        </p:txBody>
      </p:sp>
      <p:sp>
        <p:nvSpPr>
          <p:cNvPr id="829" name="b1"/>
          <p:cNvSpPr txBox="1"/>
          <p:nvPr/>
        </p:nvSpPr>
        <p:spPr>
          <a:xfrm>
            <a:off x="6629400" y="3048000"/>
            <a:ext cx="4445000" cy="8128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450" dirty="0">
                <a:solidFill>
                  <a:srgbClr val="46535F"/>
                </a:solidFill>
              </a:rPr>
              <a:t>El vendedor ingresa el código (SKU) y la planilla arma automáticamente la ficha de oferta del producto.</a:t>
            </a:r>
          </a:p>
        </p:txBody>
      </p:sp>
      <p:sp>
        <p:nvSpPr>
          <p:cNvPr id="830" name="band"/>
          <p:cNvSpPr/>
          <p:nvPr/>
        </p:nvSpPr>
        <p:spPr>
          <a:xfrm>
            <a:off x="838200" y="4292600"/>
            <a:ext cx="10515600" cy="1473200"/>
          </a:xfrm>
          <a:prstGeom prst="roundRect">
            <a:avLst>
              <a:gd name="adj" fmla="val 8000"/>
            </a:avLst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1" name="bl"/>
          <p:cNvSpPr txBox="1"/>
          <p:nvPr/>
        </p:nvSpPr>
        <p:spPr>
          <a:xfrm>
            <a:off x="1143000" y="4521200"/>
            <a:ext cx="5080000" cy="3048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400" b="1" dirty="0">
                <a:solidFill>
                  <a:srgbClr val="FFFFFF"/>
                </a:solidFill>
              </a:rPr>
              <a:t>Conceptualmente, tres tablas:</a:t>
            </a:r>
          </a:p>
        </p:txBody>
      </p:sp>
      <p:sp>
        <p:nvSpPr>
          <p:cNvPr id="832" name="pill832"/>
          <p:cNvSpPr/>
          <p:nvPr/>
        </p:nvSpPr>
        <p:spPr>
          <a:xfrm>
            <a:off x="1143000" y="5054600"/>
            <a:ext cx="2489200" cy="43180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3" name="pt832"/>
          <p:cNvSpPr txBox="1"/>
          <p:nvPr/>
        </p:nvSpPr>
        <p:spPr>
          <a:xfrm>
            <a:off x="1143000" y="5092700"/>
            <a:ext cx="2489200" cy="355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s-AR" sz="1300" b="1" dirty="0">
                <a:solidFill>
                  <a:srgbClr val="FFFFFF"/>
                </a:solidFill>
              </a:rPr>
              <a:t>Promoción</a:t>
            </a:r>
          </a:p>
        </p:txBody>
      </p:sp>
      <p:sp>
        <p:nvSpPr>
          <p:cNvPr id="834" name="pill834"/>
          <p:cNvSpPr/>
          <p:nvPr/>
        </p:nvSpPr>
        <p:spPr>
          <a:xfrm>
            <a:off x="3810000" y="5054600"/>
            <a:ext cx="3810000" cy="43180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5" name="pt834"/>
          <p:cNvSpPr txBox="1"/>
          <p:nvPr/>
        </p:nvSpPr>
        <p:spPr>
          <a:xfrm>
            <a:off x="3810000" y="5092700"/>
            <a:ext cx="3810000" cy="355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s-AR" sz="1300" b="1" dirty="0">
                <a:solidFill>
                  <a:srgbClr val="FFFFFF"/>
                </a:solidFill>
              </a:rPr>
              <a:t>Equivalencias de Medio de Pago</a:t>
            </a:r>
          </a:p>
        </p:txBody>
      </p:sp>
      <p:sp>
        <p:nvSpPr>
          <p:cNvPr id="836" name="pill836"/>
          <p:cNvSpPr/>
          <p:nvPr/>
        </p:nvSpPr>
        <p:spPr>
          <a:xfrm>
            <a:off x="7797800" y="5054600"/>
            <a:ext cx="1905000" cy="43180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7" name="pt836"/>
          <p:cNvSpPr txBox="1"/>
          <p:nvPr/>
        </p:nvSpPr>
        <p:spPr>
          <a:xfrm>
            <a:off x="7797800" y="5092700"/>
            <a:ext cx="1905000" cy="355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s-AR" sz="1300" b="1" dirty="0">
                <a:solidFill>
                  <a:srgbClr val="FFFFFF"/>
                </a:solidFill>
              </a:rPr>
              <a:t>Consultas</a:t>
            </a:r>
          </a:p>
        </p:txBody>
      </p:sp>
    </p:spTree>
    <p:extLst>
      <p:ext uri="{BB962C8B-B14F-4D97-AF65-F5344CB8AC3E}">
        <p14:creationId xmlns:p14="http://schemas.microsoft.com/office/powerpoint/2010/main" val="2728945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985AE-6FF5-2FB8-9912-2C4CB05A6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3A213D-6F5A-8116-788A-7217B48F8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200"/>
            <a:ext cx="10414000" cy="660400"/>
          </a:xfrm>
        </p:spPr>
        <p:txBody>
          <a:bodyPr/>
          <a:lstStyle/>
          <a:p>
            <a:pPr algn="l"/>
            <a:r>
              <a:rPr lang="es-AR" sz="3200" b="1" dirty="0">
                <a:solidFill>
                  <a:srgbClr val="0E2841"/>
                </a:solidFill>
              </a:rPr>
              <a:t>Situación actual: el Excel de Promociones</a:t>
            </a:r>
          </a:p>
        </p:txBody>
      </p:sp>
      <p:sp>
        <p:nvSpPr>
          <p:cNvPr id="800" name="kicker">
            <a:extLst>
              <a:ext uri="{FF2B5EF4-FFF2-40B4-BE49-F238E27FC236}">
                <a16:creationId xmlns:a16="http://schemas.microsoft.com/office/drawing/2014/main" id="{7E2A95C5-9819-D790-5C55-FC70BB568D5E}"/>
              </a:ext>
            </a:extLst>
          </p:cNvPr>
          <p:cNvSpPr txBox="1"/>
          <p:nvPr/>
        </p:nvSpPr>
        <p:spPr>
          <a:xfrm>
            <a:off x="838200" y="381000"/>
            <a:ext cx="10414000" cy="3048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300" b="1" spc="240" dirty="0">
                <a:solidFill>
                  <a:srgbClr val="E97132"/>
                </a:solidFill>
              </a:rPr>
              <a:t>SECCIÓN 2 · CÓMO FUNCIONA HOY</a:t>
            </a:r>
          </a:p>
        </p:txBody>
      </p:sp>
      <p:sp>
        <p:nvSpPr>
          <p:cNvPr id="801" name="intro">
            <a:extLst>
              <a:ext uri="{FF2B5EF4-FFF2-40B4-BE49-F238E27FC236}">
                <a16:creationId xmlns:a16="http://schemas.microsoft.com/office/drawing/2014/main" id="{337BAC27-B582-D419-04BD-932B1437BC6B}"/>
              </a:ext>
            </a:extLst>
          </p:cNvPr>
          <p:cNvSpPr txBox="1"/>
          <p:nvPr/>
        </p:nvSpPr>
        <p:spPr>
          <a:xfrm>
            <a:off x="838200" y="1320800"/>
            <a:ext cx="10668000" cy="508000"/>
          </a:xfrm>
          <a:prstGeom prst="rect">
            <a:avLst/>
          </a:prstGeom>
          <a:noFill/>
        </p:spPr>
        <p:txBody>
          <a:bodyPr wrap="square" rtlCol="0" anchor="t">
            <a:normAutofit fontScale="92500"/>
          </a:bodyPr>
          <a:lstStyle/>
          <a:p>
            <a:r>
              <a:rPr lang="es-AR" sz="1600" dirty="0">
                <a:solidFill>
                  <a:srgbClr val="33414F"/>
                </a:solidFill>
              </a:rPr>
              <a:t>El sistema funciona sobre un archivo Excel compartido —el «Catálogo de Ofertas»— compuesto por dos hojas de trabajo.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5B1602E-B14A-07BB-6068-BEE2112A0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0"/>
            <a:ext cx="12192000" cy="478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05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B2EA2-78A3-ACD9-4EB3-4EA116093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F1D59-052B-D626-B959-62C5BED65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200"/>
            <a:ext cx="10414000" cy="660400"/>
          </a:xfrm>
        </p:spPr>
        <p:txBody>
          <a:bodyPr/>
          <a:lstStyle/>
          <a:p>
            <a:pPr algn="l"/>
            <a:r>
              <a:rPr lang="es-AR" sz="3200" b="1" dirty="0">
                <a:solidFill>
                  <a:srgbClr val="0E2841"/>
                </a:solidFill>
              </a:rPr>
              <a:t>Situación actual: el Excel de Promociones</a:t>
            </a:r>
          </a:p>
        </p:txBody>
      </p:sp>
      <p:sp>
        <p:nvSpPr>
          <p:cNvPr id="800" name="kicker">
            <a:extLst>
              <a:ext uri="{FF2B5EF4-FFF2-40B4-BE49-F238E27FC236}">
                <a16:creationId xmlns:a16="http://schemas.microsoft.com/office/drawing/2014/main" id="{C279CBB9-AE3F-2404-92B4-0A8DD648C925}"/>
              </a:ext>
            </a:extLst>
          </p:cNvPr>
          <p:cNvSpPr txBox="1"/>
          <p:nvPr/>
        </p:nvSpPr>
        <p:spPr>
          <a:xfrm>
            <a:off x="838200" y="381000"/>
            <a:ext cx="10414000" cy="3048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300" b="1" spc="240" dirty="0">
                <a:solidFill>
                  <a:srgbClr val="E97132"/>
                </a:solidFill>
              </a:rPr>
              <a:t>SECCIÓN 2 · CÓMO FUNCIONA HOY</a:t>
            </a:r>
          </a:p>
        </p:txBody>
      </p:sp>
      <p:sp>
        <p:nvSpPr>
          <p:cNvPr id="801" name="intro">
            <a:extLst>
              <a:ext uri="{FF2B5EF4-FFF2-40B4-BE49-F238E27FC236}">
                <a16:creationId xmlns:a16="http://schemas.microsoft.com/office/drawing/2014/main" id="{CA444E0C-D259-1D98-E031-21873B128D62}"/>
              </a:ext>
            </a:extLst>
          </p:cNvPr>
          <p:cNvSpPr txBox="1"/>
          <p:nvPr/>
        </p:nvSpPr>
        <p:spPr>
          <a:xfrm>
            <a:off x="838200" y="1320800"/>
            <a:ext cx="10668000" cy="508000"/>
          </a:xfrm>
          <a:prstGeom prst="rect">
            <a:avLst/>
          </a:prstGeom>
          <a:noFill/>
        </p:spPr>
        <p:txBody>
          <a:bodyPr wrap="square" rtlCol="0" anchor="t">
            <a:normAutofit fontScale="92500"/>
          </a:bodyPr>
          <a:lstStyle/>
          <a:p>
            <a:r>
              <a:rPr lang="es-AR" sz="1600" dirty="0">
                <a:solidFill>
                  <a:srgbClr val="33414F"/>
                </a:solidFill>
              </a:rPr>
              <a:t>El sistema funciona sobre un archivo Excel compartido —el «Catálogo de Ofertas»— compuesto por dos hojas de trabajo.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E56EE97-E176-5EDC-E125-4C0C9D625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64766"/>
            <a:ext cx="9512065" cy="481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492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E4A7F-CA29-D046-BE9F-273BFE553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200"/>
            <a:ext cx="10414000" cy="660400"/>
          </a:xfrm>
        </p:spPr>
        <p:txBody>
          <a:bodyPr/>
          <a:lstStyle/>
          <a:p>
            <a:pPr algn="l"/>
            <a:r>
              <a:rPr lang="es-AR" sz="3200" b="1" dirty="0">
                <a:solidFill>
                  <a:srgbClr val="0E2841"/>
                </a:solidFill>
              </a:rPr>
              <a:t>Estructura de datos actual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1E2DD2E-36A7-47AD-96A7-DFA8F550746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641600"/>
          <a:ext cx="5969000" cy="305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941583609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14072865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s-AR" sz="1400" b="1">
                          <a:solidFill>
                            <a:srgbClr val="FFFFFF"/>
                          </a:solidFill>
                        </a:rPr>
                        <a:t>Cuotas sin interés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400" b="1">
                          <a:solidFill>
                            <a:srgbClr val="FFFFFF"/>
                          </a:solidFill>
                        </a:rPr>
                        <a:t>Medios de pago incluidos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34658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AR" sz="1300" b="1">
                          <a:solidFill>
                            <a:srgbClr val="156082"/>
                          </a:solidFill>
                        </a:rPr>
                        <a:t>Hasta 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300">
                          <a:solidFill>
                            <a:srgbClr val="33414F"/>
                          </a:solidFill>
                        </a:rPr>
                        <a:t>Peque Tasa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43504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AR" sz="1300" b="1">
                          <a:solidFill>
                            <a:srgbClr val="156082"/>
                          </a:solidFill>
                        </a:rPr>
                        <a:t>Hasta 12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300">
                          <a:solidFill>
                            <a:srgbClr val="33414F"/>
                          </a:solidFill>
                        </a:rPr>
                        <a:t>Tarjetas regionales · Naranja X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60261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AR" sz="1300" b="1">
                          <a:solidFill>
                            <a:srgbClr val="156082"/>
                          </a:solidFill>
                        </a:rPr>
                        <a:t>Hasta 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300">
                          <a:solidFill>
                            <a:srgbClr val="33414F"/>
                          </a:solidFill>
                        </a:rPr>
                        <a:t>Tuya NBCH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80383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AR" sz="1300" b="1">
                          <a:solidFill>
                            <a:srgbClr val="156082"/>
                          </a:solidFill>
                        </a:rPr>
                        <a:t>Hasta 6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300">
                          <a:solidFill>
                            <a:srgbClr val="33414F"/>
                          </a:solidFill>
                        </a:rPr>
                        <a:t>Bancos (Macro, Nación, Galicia, BBVA) · Sidecreer · ConsuMax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97798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AR" sz="1300" b="1">
                          <a:solidFill>
                            <a:srgbClr val="156082"/>
                          </a:solidFill>
                        </a:rPr>
                        <a:t>Hasta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300">
                          <a:solidFill>
                            <a:srgbClr val="33414F"/>
                          </a:solidFill>
                        </a:rPr>
                        <a:t>Directo (Préstamo DNI)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186264"/>
                  </a:ext>
                </a:extLst>
              </a:tr>
            </a:tbl>
          </a:graphicData>
        </a:graphic>
      </p:graphicFrame>
      <p:sp>
        <p:nvSpPr>
          <p:cNvPr id="800" name="kicker"/>
          <p:cNvSpPr txBox="1"/>
          <p:nvPr/>
        </p:nvSpPr>
        <p:spPr>
          <a:xfrm>
            <a:off x="838200" y="381000"/>
            <a:ext cx="10414000" cy="3048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300" b="1" spc="240" dirty="0">
                <a:solidFill>
                  <a:srgbClr val="E97132"/>
                </a:solidFill>
              </a:rPr>
              <a:t>SECCIÓN 2 · ESTRUCTURA DE DATOS</a:t>
            </a:r>
          </a:p>
        </p:txBody>
      </p:sp>
      <p:sp>
        <p:nvSpPr>
          <p:cNvPr id="801" name="cap"/>
          <p:cNvSpPr txBox="1"/>
          <p:nvPr/>
        </p:nvSpPr>
        <p:spPr>
          <a:xfrm>
            <a:off x="838200" y="1422400"/>
            <a:ext cx="5969000" cy="304800"/>
          </a:xfrm>
          <a:prstGeom prst="rect">
            <a:avLst/>
          </a:prstGeom>
          <a:noFill/>
        </p:spPr>
        <p:txBody>
          <a:bodyPr wrap="square" rtlCol="0" anchor="t">
            <a:normAutofit lnSpcReduction="10000"/>
          </a:bodyPr>
          <a:lstStyle/>
          <a:p>
            <a:r>
              <a:rPr lang="es-AR" sz="1500" b="1" dirty="0">
                <a:solidFill>
                  <a:srgbClr val="156082"/>
                </a:solidFill>
              </a:rPr>
              <a:t>Equivalencias de Medio de Pago</a:t>
            </a:r>
          </a:p>
        </p:txBody>
      </p:sp>
      <p:sp>
        <p:nvSpPr>
          <p:cNvPr id="802" name="capn"/>
          <p:cNvSpPr txBox="1"/>
          <p:nvPr/>
        </p:nvSpPr>
        <p:spPr>
          <a:xfrm>
            <a:off x="838200" y="1727200"/>
            <a:ext cx="5969000" cy="508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300" dirty="0">
                <a:solidFill>
                  <a:srgbClr val="6B7785"/>
                </a:solidFill>
              </a:rPr>
              <a:t>Por cada tope de cuotas sin interés, qué medios de pago lo ofrecen.</a:t>
            </a:r>
          </a:p>
        </p:txBody>
      </p:sp>
      <p:sp>
        <p:nvSpPr>
          <p:cNvPr id="820" name="rc0"/>
          <p:cNvSpPr/>
          <p:nvPr/>
        </p:nvSpPr>
        <p:spPr>
          <a:xfrm>
            <a:off x="7112000" y="1422400"/>
            <a:ext cx="4241800" cy="2209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1" name="rb0"/>
          <p:cNvSpPr/>
          <p:nvPr/>
        </p:nvSpPr>
        <p:spPr>
          <a:xfrm>
            <a:off x="7112000" y="1422400"/>
            <a:ext cx="76200" cy="22098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2" name="rs0"/>
          <p:cNvSpPr txBox="1"/>
          <p:nvPr/>
        </p:nvSpPr>
        <p:spPr>
          <a:xfrm>
            <a:off x="7416800" y="1651000"/>
            <a:ext cx="3683000" cy="203200"/>
          </a:xfrm>
          <a:prstGeom prst="rect">
            <a:avLst/>
          </a:prstGeom>
          <a:noFill/>
        </p:spPr>
        <p:txBody>
          <a:bodyPr wrap="square" rtlCol="0" anchor="t">
            <a:normAutofit fontScale="92500" lnSpcReduction="20000"/>
          </a:bodyPr>
          <a:lstStyle/>
          <a:p>
            <a:r>
              <a:rPr lang="es-AR" sz="1000" b="1" spc="140" dirty="0">
                <a:solidFill>
                  <a:srgbClr val="156082"/>
                </a:solidFill>
              </a:rPr>
              <a:t>HOJA «PRODUCTOS»</a:t>
            </a:r>
          </a:p>
        </p:txBody>
      </p:sp>
      <p:sp>
        <p:nvSpPr>
          <p:cNvPr id="823" name="rh0"/>
          <p:cNvSpPr txBox="1"/>
          <p:nvPr/>
        </p:nvSpPr>
        <p:spPr>
          <a:xfrm>
            <a:off x="7416800" y="1854200"/>
            <a:ext cx="3683000" cy="3556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700" b="1" dirty="0">
                <a:solidFill>
                  <a:srgbClr val="0E2841"/>
                </a:solidFill>
              </a:rPr>
              <a:t>Tabla Promoción / Catálogo</a:t>
            </a:r>
          </a:p>
        </p:txBody>
      </p:sp>
      <p:sp>
        <p:nvSpPr>
          <p:cNvPr id="824" name="rbo0"/>
          <p:cNvSpPr txBox="1"/>
          <p:nvPr/>
        </p:nvSpPr>
        <p:spPr>
          <a:xfrm>
            <a:off x="7416800" y="2260600"/>
            <a:ext cx="3683000" cy="127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350" dirty="0">
                <a:solidFill>
                  <a:srgbClr val="46535F"/>
                </a:solidFill>
              </a:rPr>
              <a:t>SKU · Producto · Marca · Rubro · Precio de lista · Descuento · Precio oferta · Nombre de campaña · Descuento afiliado · Cuotas Naranja y Bancarias.</a:t>
            </a:r>
          </a:p>
        </p:txBody>
      </p:sp>
      <p:sp>
        <p:nvSpPr>
          <p:cNvPr id="825" name="rc1"/>
          <p:cNvSpPr/>
          <p:nvPr/>
        </p:nvSpPr>
        <p:spPr>
          <a:xfrm>
            <a:off x="7112000" y="3810000"/>
            <a:ext cx="4241800" cy="2209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6" name="rb1"/>
          <p:cNvSpPr/>
          <p:nvPr/>
        </p:nvSpPr>
        <p:spPr>
          <a:xfrm>
            <a:off x="7112000" y="3810000"/>
            <a:ext cx="76200" cy="2209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7" name="rs1"/>
          <p:cNvSpPr txBox="1"/>
          <p:nvPr/>
        </p:nvSpPr>
        <p:spPr>
          <a:xfrm>
            <a:off x="7416800" y="4038600"/>
            <a:ext cx="3683000" cy="203200"/>
          </a:xfrm>
          <a:prstGeom prst="rect">
            <a:avLst/>
          </a:prstGeom>
          <a:noFill/>
        </p:spPr>
        <p:txBody>
          <a:bodyPr wrap="square" rtlCol="0" anchor="t">
            <a:normAutofit fontScale="92500" lnSpcReduction="20000"/>
          </a:bodyPr>
          <a:lstStyle/>
          <a:p>
            <a:r>
              <a:rPr lang="es-AR" sz="1000" b="1" spc="140" dirty="0">
                <a:solidFill>
                  <a:srgbClr val="0F9ED5"/>
                </a:solidFill>
              </a:rPr>
              <a:t>HOJA «ASESORA POLÍTICAS»</a:t>
            </a:r>
          </a:p>
        </p:txBody>
      </p:sp>
      <p:sp>
        <p:nvSpPr>
          <p:cNvPr id="828" name="rh1"/>
          <p:cNvSpPr txBox="1"/>
          <p:nvPr/>
        </p:nvSpPr>
        <p:spPr>
          <a:xfrm>
            <a:off x="7416800" y="4241800"/>
            <a:ext cx="3683000" cy="3556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700" b="1" dirty="0">
                <a:solidFill>
                  <a:srgbClr val="0E2841"/>
                </a:solidFill>
              </a:rPr>
              <a:t>Tabla de Consulta</a:t>
            </a:r>
          </a:p>
        </p:txBody>
      </p:sp>
      <p:sp>
        <p:nvSpPr>
          <p:cNvPr id="829" name="rbo1"/>
          <p:cNvSpPr txBox="1"/>
          <p:nvPr/>
        </p:nvSpPr>
        <p:spPr>
          <a:xfrm>
            <a:off x="7416800" y="4648200"/>
            <a:ext cx="3683000" cy="127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350" dirty="0">
                <a:solidFill>
                  <a:srgbClr val="46535F"/>
                </a:solidFill>
              </a:rPr>
              <a:t>A partir de un SKU arma la ficha: precio externo y afiliado, tipo de oferta, vigencia, descuento por pago contado y cuotas por medio de pago.</a:t>
            </a:r>
          </a:p>
        </p:txBody>
      </p:sp>
    </p:spTree>
    <p:extLst>
      <p:ext uri="{BB962C8B-B14F-4D97-AF65-F5344CB8AC3E}">
        <p14:creationId xmlns:p14="http://schemas.microsoft.com/office/powerpoint/2010/main" val="3293523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D9D74-1FF3-5C59-5AE6-DF94BCC95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200"/>
            <a:ext cx="10414000" cy="660400"/>
          </a:xfrm>
        </p:spPr>
        <p:txBody>
          <a:bodyPr/>
          <a:lstStyle/>
          <a:p>
            <a:pPr algn="l"/>
            <a:r>
              <a:rPr lang="es-AR" sz="3200" b="1" dirty="0">
                <a:solidFill>
                  <a:srgbClr val="0E2841"/>
                </a:solidFill>
              </a:rPr>
              <a:t>Diagrama del proceso actual</a:t>
            </a:r>
          </a:p>
        </p:txBody>
      </p:sp>
      <p:sp>
        <p:nvSpPr>
          <p:cNvPr id="800" name="kicker"/>
          <p:cNvSpPr txBox="1"/>
          <p:nvPr/>
        </p:nvSpPr>
        <p:spPr>
          <a:xfrm>
            <a:off x="838200" y="381000"/>
            <a:ext cx="10414000" cy="3048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300" b="1" spc="240" dirty="0">
                <a:solidFill>
                  <a:srgbClr val="E97132"/>
                </a:solidFill>
              </a:rPr>
              <a:t>SECCIÓN 2 · FLUJO DE CONSULTA</a:t>
            </a:r>
          </a:p>
        </p:txBody>
      </p:sp>
      <p:sp>
        <p:nvSpPr>
          <p:cNvPr id="801" name="intro"/>
          <p:cNvSpPr txBox="1"/>
          <p:nvPr/>
        </p:nvSpPr>
        <p:spPr>
          <a:xfrm>
            <a:off x="838200" y="1371600"/>
            <a:ext cx="10668000" cy="381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600" dirty="0">
                <a:solidFill>
                  <a:srgbClr val="33414F"/>
                </a:solidFill>
              </a:rPr>
              <a:t>Hoy, de la consulta de un código a la ficha de oferta, todo ocurre dentro de la misma planilla.</a:t>
            </a:r>
          </a:p>
        </p:txBody>
      </p:sp>
      <p:sp>
        <p:nvSpPr>
          <p:cNvPr id="820" name="card0"/>
          <p:cNvSpPr/>
          <p:nvPr/>
        </p:nvSpPr>
        <p:spPr>
          <a:xfrm>
            <a:off x="685800" y="2413000"/>
            <a:ext cx="2438400" cy="2159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1" name="circ0"/>
          <p:cNvSpPr/>
          <p:nvPr/>
        </p:nvSpPr>
        <p:spPr>
          <a:xfrm>
            <a:off x="1600200" y="2692400"/>
            <a:ext cx="609600" cy="6096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2" name="n0"/>
          <p:cNvSpPr txBox="1"/>
          <p:nvPr/>
        </p:nvSpPr>
        <p:spPr>
          <a:xfrm>
            <a:off x="1600200" y="2692400"/>
            <a:ext cx="609600" cy="609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s-A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23" name="h0"/>
          <p:cNvSpPr txBox="1"/>
          <p:nvPr/>
        </p:nvSpPr>
        <p:spPr>
          <a:xfrm>
            <a:off x="812800" y="3429000"/>
            <a:ext cx="2184400" cy="3302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es-AR" sz="1550" b="1" dirty="0">
                <a:solidFill>
                  <a:srgbClr val="0E2841"/>
                </a:solidFill>
              </a:rPr>
              <a:t>Ingreso del SKU</a:t>
            </a:r>
          </a:p>
        </p:txBody>
      </p:sp>
      <p:sp>
        <p:nvSpPr>
          <p:cNvPr id="824" name="b0"/>
          <p:cNvSpPr txBox="1"/>
          <p:nvPr/>
        </p:nvSpPr>
        <p:spPr>
          <a:xfrm>
            <a:off x="838200" y="3759200"/>
            <a:ext cx="2133600" cy="762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s-AR" sz="1250" dirty="0">
                <a:solidFill>
                  <a:srgbClr val="46535F"/>
                </a:solidFill>
              </a:rPr>
              <a:t>El vendedor ingresa el código del producto a consultar.</a:t>
            </a:r>
          </a:p>
        </p:txBody>
      </p:sp>
      <p:sp>
        <p:nvSpPr>
          <p:cNvPr id="825" name="arr0"/>
          <p:cNvSpPr/>
          <p:nvPr/>
        </p:nvSpPr>
        <p:spPr>
          <a:xfrm>
            <a:off x="3162300" y="3378200"/>
            <a:ext cx="228600" cy="228600"/>
          </a:xfrm>
          <a:prstGeom prst="rightArrow">
            <a:avLst/>
          </a:prstGeom>
          <a:solidFill>
            <a:srgbClr val="C2CC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6" name="card1"/>
          <p:cNvSpPr/>
          <p:nvPr/>
        </p:nvSpPr>
        <p:spPr>
          <a:xfrm>
            <a:off x="3429000" y="2413000"/>
            <a:ext cx="2438400" cy="2159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7" name="circ1"/>
          <p:cNvSpPr/>
          <p:nvPr/>
        </p:nvSpPr>
        <p:spPr>
          <a:xfrm>
            <a:off x="4343400" y="2692400"/>
            <a:ext cx="609600" cy="609600"/>
          </a:xfrm>
          <a:prstGeom prst="ellipse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8" name="n1"/>
          <p:cNvSpPr txBox="1"/>
          <p:nvPr/>
        </p:nvSpPr>
        <p:spPr>
          <a:xfrm>
            <a:off x="4343400" y="2692400"/>
            <a:ext cx="609600" cy="609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s-AR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29" name="h1"/>
          <p:cNvSpPr txBox="1"/>
          <p:nvPr/>
        </p:nvSpPr>
        <p:spPr>
          <a:xfrm>
            <a:off x="3556000" y="3429000"/>
            <a:ext cx="2184400" cy="3302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es-AR" sz="1550" b="1" dirty="0">
                <a:solidFill>
                  <a:srgbClr val="0E2841"/>
                </a:solidFill>
              </a:rPr>
              <a:t>Búsqueda</a:t>
            </a:r>
          </a:p>
        </p:txBody>
      </p:sp>
      <p:sp>
        <p:nvSpPr>
          <p:cNvPr id="830" name="b1"/>
          <p:cNvSpPr txBox="1"/>
          <p:nvPr/>
        </p:nvSpPr>
        <p:spPr>
          <a:xfrm>
            <a:off x="3581400" y="3759200"/>
            <a:ext cx="2133600" cy="762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s-AR" sz="1250" dirty="0">
                <a:solidFill>
                  <a:srgbClr val="46535F"/>
                </a:solidFill>
              </a:rPr>
              <a:t>La planilla localiza el producto en la hoja «Productos».</a:t>
            </a:r>
          </a:p>
        </p:txBody>
      </p:sp>
      <p:sp>
        <p:nvSpPr>
          <p:cNvPr id="831" name="arr1"/>
          <p:cNvSpPr/>
          <p:nvPr/>
        </p:nvSpPr>
        <p:spPr>
          <a:xfrm>
            <a:off x="5905500" y="3378200"/>
            <a:ext cx="228600" cy="228600"/>
          </a:xfrm>
          <a:prstGeom prst="rightArrow">
            <a:avLst/>
          </a:prstGeom>
          <a:solidFill>
            <a:srgbClr val="C2CC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2" name="card2"/>
          <p:cNvSpPr/>
          <p:nvPr/>
        </p:nvSpPr>
        <p:spPr>
          <a:xfrm>
            <a:off x="6172200" y="2413000"/>
            <a:ext cx="2438400" cy="2159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3" name="circ2"/>
          <p:cNvSpPr/>
          <p:nvPr/>
        </p:nvSpPr>
        <p:spPr>
          <a:xfrm>
            <a:off x="7086600" y="2692400"/>
            <a:ext cx="609600" cy="6096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4" name="n2"/>
          <p:cNvSpPr txBox="1"/>
          <p:nvPr/>
        </p:nvSpPr>
        <p:spPr>
          <a:xfrm>
            <a:off x="7086600" y="2692400"/>
            <a:ext cx="609600" cy="609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s-AR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35" name="h2"/>
          <p:cNvSpPr txBox="1"/>
          <p:nvPr/>
        </p:nvSpPr>
        <p:spPr>
          <a:xfrm>
            <a:off x="6299200" y="3429000"/>
            <a:ext cx="2184400" cy="3302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es-AR" sz="1550" b="1" dirty="0">
                <a:solidFill>
                  <a:srgbClr val="0E2841"/>
                </a:solidFill>
              </a:rPr>
              <a:t>Armado de la ficha</a:t>
            </a:r>
          </a:p>
        </p:txBody>
      </p:sp>
      <p:sp>
        <p:nvSpPr>
          <p:cNvPr id="836" name="b2"/>
          <p:cNvSpPr txBox="1"/>
          <p:nvPr/>
        </p:nvSpPr>
        <p:spPr>
          <a:xfrm>
            <a:off x="6324600" y="3759200"/>
            <a:ext cx="2133600" cy="762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s-AR" sz="1250" dirty="0">
                <a:solidFill>
                  <a:srgbClr val="46535F"/>
                </a:solidFill>
              </a:rPr>
              <a:t>Combina precio, descuento, campaña, vigencia y cuotas.</a:t>
            </a:r>
          </a:p>
        </p:txBody>
      </p:sp>
      <p:sp>
        <p:nvSpPr>
          <p:cNvPr id="837" name="arr2"/>
          <p:cNvSpPr/>
          <p:nvPr/>
        </p:nvSpPr>
        <p:spPr>
          <a:xfrm>
            <a:off x="8648700" y="3378200"/>
            <a:ext cx="228600" cy="228600"/>
          </a:xfrm>
          <a:prstGeom prst="rightArrow">
            <a:avLst/>
          </a:prstGeom>
          <a:solidFill>
            <a:srgbClr val="C2CC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8" name="card3"/>
          <p:cNvSpPr/>
          <p:nvPr/>
        </p:nvSpPr>
        <p:spPr>
          <a:xfrm>
            <a:off x="8915400" y="2413000"/>
            <a:ext cx="2438400" cy="2159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9" name="circ3"/>
          <p:cNvSpPr/>
          <p:nvPr/>
        </p:nvSpPr>
        <p:spPr>
          <a:xfrm>
            <a:off x="9829800" y="2692400"/>
            <a:ext cx="609600" cy="609600"/>
          </a:xfrm>
          <a:prstGeom prst="ellipse">
            <a:avLst/>
          </a:prstGeom>
          <a:solidFill>
            <a:srgbClr val="196B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0" name="n3"/>
          <p:cNvSpPr txBox="1"/>
          <p:nvPr/>
        </p:nvSpPr>
        <p:spPr>
          <a:xfrm>
            <a:off x="9829800" y="2692400"/>
            <a:ext cx="609600" cy="609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s-AR" sz="2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41" name="h3"/>
          <p:cNvSpPr txBox="1"/>
          <p:nvPr/>
        </p:nvSpPr>
        <p:spPr>
          <a:xfrm>
            <a:off x="9042400" y="3429000"/>
            <a:ext cx="2184400" cy="3302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es-AR" sz="1550" b="1" dirty="0">
                <a:solidFill>
                  <a:srgbClr val="0E2841"/>
                </a:solidFill>
              </a:rPr>
              <a:t>Resultado</a:t>
            </a:r>
          </a:p>
        </p:txBody>
      </p:sp>
      <p:sp>
        <p:nvSpPr>
          <p:cNvPr id="842" name="b3"/>
          <p:cNvSpPr txBox="1"/>
          <p:nvPr/>
        </p:nvSpPr>
        <p:spPr>
          <a:xfrm>
            <a:off x="9067800" y="3759200"/>
            <a:ext cx="2133600" cy="762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s-AR" sz="1250" dirty="0">
                <a:solidFill>
                  <a:srgbClr val="46535F"/>
                </a:solidFill>
              </a:rPr>
              <a:t>Muestra la ficha de oferta en «Asesora Políticas».</a:t>
            </a:r>
          </a:p>
        </p:txBody>
      </p:sp>
      <p:sp>
        <p:nvSpPr>
          <p:cNvPr id="900" name="fig"/>
          <p:cNvSpPr txBox="1"/>
          <p:nvPr/>
        </p:nvSpPr>
        <p:spPr>
          <a:xfrm>
            <a:off x="838200" y="4927600"/>
            <a:ext cx="10668000" cy="3048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r>
              <a:rPr lang="es-AR" sz="1200" i="1" dirty="0">
                <a:solidFill>
                  <a:srgbClr val="6B7785"/>
                </a:solidFill>
              </a:rPr>
              <a:t>Figura 1. Flujo actual del proceso de consulta de ofertas, íntegramente dentro de Excel.</a:t>
            </a:r>
          </a:p>
        </p:txBody>
      </p:sp>
    </p:spTree>
    <p:extLst>
      <p:ext uri="{BB962C8B-B14F-4D97-AF65-F5344CB8AC3E}">
        <p14:creationId xmlns:p14="http://schemas.microsoft.com/office/powerpoint/2010/main" val="830723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FB895-4C58-5904-F585-EAE12E11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10414000" cy="635000"/>
          </a:xfrm>
        </p:spPr>
        <p:txBody>
          <a:bodyPr/>
          <a:lstStyle/>
          <a:p>
            <a:pPr algn="l"/>
            <a:r>
              <a:rPr lang="es-AR" sz="3200" b="1" dirty="0">
                <a:solidFill>
                  <a:srgbClr val="0E2841"/>
                </a:solidFill>
              </a:rPr>
              <a:t>Limitaciones del modelo actual</a:t>
            </a:r>
          </a:p>
        </p:txBody>
      </p:sp>
      <p:sp>
        <p:nvSpPr>
          <p:cNvPr id="800" name="kicker"/>
          <p:cNvSpPr txBox="1"/>
          <p:nvPr/>
        </p:nvSpPr>
        <p:spPr>
          <a:xfrm>
            <a:off x="838200" y="304800"/>
            <a:ext cx="10414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300" b="1" spc="240" dirty="0">
                <a:solidFill>
                  <a:srgbClr val="E97132"/>
                </a:solidFill>
              </a:rPr>
              <a:t>SECCIÓN 2 · POR QUÉ CAMBIAR</a:t>
            </a:r>
          </a:p>
        </p:txBody>
      </p:sp>
      <p:sp>
        <p:nvSpPr>
          <p:cNvPr id="820" name="c0"/>
          <p:cNvSpPr/>
          <p:nvPr/>
        </p:nvSpPr>
        <p:spPr>
          <a:xfrm>
            <a:off x="838200" y="1625600"/>
            <a:ext cx="5181600" cy="109220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1" name="badge0"/>
          <p:cNvSpPr/>
          <p:nvPr/>
        </p:nvSpPr>
        <p:spPr>
          <a:xfrm>
            <a:off x="1041400" y="1854200"/>
            <a:ext cx="508000" cy="508000"/>
          </a:xfrm>
          <a:prstGeom prst="roundRect">
            <a:avLst>
              <a:gd name="adj" fmla="val 14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2" name="bn0"/>
          <p:cNvSpPr txBox="1"/>
          <p:nvPr/>
        </p:nvSpPr>
        <p:spPr>
          <a:xfrm>
            <a:off x="1041400" y="1854200"/>
            <a:ext cx="5080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23" name="h0"/>
          <p:cNvSpPr txBox="1"/>
          <p:nvPr/>
        </p:nvSpPr>
        <p:spPr>
          <a:xfrm>
            <a:off x="1727200" y="1816100"/>
            <a:ext cx="40894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500" b="1" dirty="0">
                <a:solidFill>
                  <a:srgbClr val="0E2841"/>
                </a:solidFill>
              </a:rPr>
              <a:t>Archivo único y compartido</a:t>
            </a:r>
          </a:p>
        </p:txBody>
      </p:sp>
      <p:sp>
        <p:nvSpPr>
          <p:cNvPr id="824" name="b0"/>
          <p:cNvSpPr txBox="1"/>
          <p:nvPr/>
        </p:nvSpPr>
        <p:spPr>
          <a:xfrm>
            <a:off x="1727200" y="2120900"/>
            <a:ext cx="4089400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200" dirty="0">
                <a:solidFill>
                  <a:srgbClr val="46535F"/>
                </a:solidFill>
              </a:rPr>
              <a:t>Riesgo de pérdida de información, sobrescritura simultánea y ausencia de versionado.</a:t>
            </a:r>
          </a:p>
        </p:txBody>
      </p:sp>
      <p:sp>
        <p:nvSpPr>
          <p:cNvPr id="825" name="c1"/>
          <p:cNvSpPr/>
          <p:nvPr/>
        </p:nvSpPr>
        <p:spPr>
          <a:xfrm>
            <a:off x="6172200" y="1625600"/>
            <a:ext cx="5181600" cy="109220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6" name="badge1"/>
          <p:cNvSpPr/>
          <p:nvPr/>
        </p:nvSpPr>
        <p:spPr>
          <a:xfrm>
            <a:off x="6375400" y="1854200"/>
            <a:ext cx="508000" cy="508000"/>
          </a:xfrm>
          <a:prstGeom prst="roundRect">
            <a:avLst>
              <a:gd name="adj" fmla="val 14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7" name="bn1"/>
          <p:cNvSpPr txBox="1"/>
          <p:nvPr/>
        </p:nvSpPr>
        <p:spPr>
          <a:xfrm>
            <a:off x="6375400" y="1854200"/>
            <a:ext cx="5080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28" name="h1"/>
          <p:cNvSpPr txBox="1"/>
          <p:nvPr/>
        </p:nvSpPr>
        <p:spPr>
          <a:xfrm>
            <a:off x="7061200" y="1816100"/>
            <a:ext cx="40894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500" b="1" dirty="0">
                <a:solidFill>
                  <a:srgbClr val="0E2841"/>
                </a:solidFill>
              </a:rPr>
              <a:t>Sin control de usuarios</a:t>
            </a:r>
          </a:p>
        </p:txBody>
      </p:sp>
      <p:sp>
        <p:nvSpPr>
          <p:cNvPr id="829" name="b1"/>
          <p:cNvSpPr txBox="1"/>
          <p:nvPr/>
        </p:nvSpPr>
        <p:spPr>
          <a:xfrm>
            <a:off x="7061200" y="2120900"/>
            <a:ext cx="4089400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200" dirty="0">
                <a:solidFill>
                  <a:srgbClr val="46535F"/>
                </a:solidFill>
              </a:rPr>
              <a:t>Cualquiera puede ver y modificar precios y condiciones, sin trazabilidad.</a:t>
            </a:r>
          </a:p>
        </p:txBody>
      </p:sp>
      <p:sp>
        <p:nvSpPr>
          <p:cNvPr id="830" name="c2"/>
          <p:cNvSpPr/>
          <p:nvPr/>
        </p:nvSpPr>
        <p:spPr>
          <a:xfrm>
            <a:off x="838200" y="2819400"/>
            <a:ext cx="5181600" cy="109220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1" name="badge2"/>
          <p:cNvSpPr/>
          <p:nvPr/>
        </p:nvSpPr>
        <p:spPr>
          <a:xfrm>
            <a:off x="1041400" y="3048000"/>
            <a:ext cx="508000" cy="508000"/>
          </a:xfrm>
          <a:prstGeom prst="roundRect">
            <a:avLst>
              <a:gd name="adj" fmla="val 14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2" name="bn2"/>
          <p:cNvSpPr txBox="1"/>
          <p:nvPr/>
        </p:nvSpPr>
        <p:spPr>
          <a:xfrm>
            <a:off x="1041400" y="3048000"/>
            <a:ext cx="5080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33" name="h2"/>
          <p:cNvSpPr txBox="1"/>
          <p:nvPr/>
        </p:nvSpPr>
        <p:spPr>
          <a:xfrm>
            <a:off x="1727200" y="3009900"/>
            <a:ext cx="40894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500" b="1" dirty="0">
                <a:solidFill>
                  <a:srgbClr val="0E2841"/>
                </a:solidFill>
              </a:rPr>
              <a:t>Sin visibilidad de stock</a:t>
            </a:r>
          </a:p>
        </p:txBody>
      </p:sp>
      <p:sp>
        <p:nvSpPr>
          <p:cNvPr id="834" name="b2"/>
          <p:cNvSpPr txBox="1"/>
          <p:nvPr/>
        </p:nvSpPr>
        <p:spPr>
          <a:xfrm>
            <a:off x="1727200" y="3314700"/>
            <a:ext cx="4089400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200" dirty="0">
                <a:solidFill>
                  <a:srgbClr val="46535F"/>
                </a:solidFill>
              </a:rPr>
              <a:t>No indica si el producto tiene stock disponible, ni en qué sucursal.</a:t>
            </a:r>
          </a:p>
        </p:txBody>
      </p:sp>
      <p:sp>
        <p:nvSpPr>
          <p:cNvPr id="835" name="c3"/>
          <p:cNvSpPr/>
          <p:nvPr/>
        </p:nvSpPr>
        <p:spPr>
          <a:xfrm>
            <a:off x="6172200" y="2819400"/>
            <a:ext cx="5181600" cy="109220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6" name="badge3"/>
          <p:cNvSpPr/>
          <p:nvPr/>
        </p:nvSpPr>
        <p:spPr>
          <a:xfrm>
            <a:off x="6375400" y="3048000"/>
            <a:ext cx="508000" cy="508000"/>
          </a:xfrm>
          <a:prstGeom prst="roundRect">
            <a:avLst>
              <a:gd name="adj" fmla="val 14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7" name="bn3"/>
          <p:cNvSpPr txBox="1"/>
          <p:nvPr/>
        </p:nvSpPr>
        <p:spPr>
          <a:xfrm>
            <a:off x="6375400" y="3048000"/>
            <a:ext cx="5080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38" name="h3"/>
          <p:cNvSpPr txBox="1"/>
          <p:nvPr/>
        </p:nvSpPr>
        <p:spPr>
          <a:xfrm>
            <a:off x="7061200" y="3009900"/>
            <a:ext cx="40894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500" b="1" dirty="0">
                <a:solidFill>
                  <a:srgbClr val="0E2841"/>
                </a:solidFill>
              </a:rPr>
              <a:t>Actualización manual</a:t>
            </a:r>
          </a:p>
        </p:txBody>
      </p:sp>
      <p:sp>
        <p:nvSpPr>
          <p:cNvPr id="839" name="b3"/>
          <p:cNvSpPr txBox="1"/>
          <p:nvPr/>
        </p:nvSpPr>
        <p:spPr>
          <a:xfrm>
            <a:off x="7061200" y="3314700"/>
            <a:ext cx="4089400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200" dirty="0">
                <a:solidFill>
                  <a:srgbClr val="46535F"/>
                </a:solidFill>
              </a:rPr>
              <a:t>Precios, vigencias y cuotas se cargan a mano, campaña por campaña: propenso a errores.</a:t>
            </a:r>
          </a:p>
        </p:txBody>
      </p:sp>
      <p:sp>
        <p:nvSpPr>
          <p:cNvPr id="840" name="c4"/>
          <p:cNvSpPr/>
          <p:nvPr/>
        </p:nvSpPr>
        <p:spPr>
          <a:xfrm>
            <a:off x="838200" y="4013200"/>
            <a:ext cx="5181600" cy="109220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1" name="badge4"/>
          <p:cNvSpPr/>
          <p:nvPr/>
        </p:nvSpPr>
        <p:spPr>
          <a:xfrm>
            <a:off x="1041400" y="4241800"/>
            <a:ext cx="508000" cy="508000"/>
          </a:xfrm>
          <a:prstGeom prst="roundRect">
            <a:avLst>
              <a:gd name="adj" fmla="val 14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2" name="bn4"/>
          <p:cNvSpPr txBox="1"/>
          <p:nvPr/>
        </p:nvSpPr>
        <p:spPr>
          <a:xfrm>
            <a:off x="1041400" y="4241800"/>
            <a:ext cx="5080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8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43" name="h4"/>
          <p:cNvSpPr txBox="1"/>
          <p:nvPr/>
        </p:nvSpPr>
        <p:spPr>
          <a:xfrm>
            <a:off x="1727200" y="4203700"/>
            <a:ext cx="40894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500" b="1" dirty="0">
                <a:solidFill>
                  <a:srgbClr val="0E2841"/>
                </a:solidFill>
              </a:rPr>
              <a:t>Estructura semi rígida de pagos</a:t>
            </a:r>
          </a:p>
        </p:txBody>
      </p:sp>
      <p:sp>
        <p:nvSpPr>
          <p:cNvPr id="844" name="b4"/>
          <p:cNvSpPr txBox="1"/>
          <p:nvPr/>
        </p:nvSpPr>
        <p:spPr>
          <a:xfrm>
            <a:off x="1727200" y="4508500"/>
            <a:ext cx="4089400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200" dirty="0">
                <a:solidFill>
                  <a:srgbClr val="46535F"/>
                </a:solidFill>
              </a:rPr>
              <a:t>Solo 3 columnas de medio de pago, insuficiente para las entidades reales.</a:t>
            </a:r>
          </a:p>
        </p:txBody>
      </p:sp>
      <p:sp>
        <p:nvSpPr>
          <p:cNvPr id="845" name="c5"/>
          <p:cNvSpPr/>
          <p:nvPr/>
        </p:nvSpPr>
        <p:spPr>
          <a:xfrm>
            <a:off x="6172200" y="4013200"/>
            <a:ext cx="5181600" cy="109220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6" name="badge5"/>
          <p:cNvSpPr/>
          <p:nvPr/>
        </p:nvSpPr>
        <p:spPr>
          <a:xfrm>
            <a:off x="6375400" y="4241800"/>
            <a:ext cx="508000" cy="508000"/>
          </a:xfrm>
          <a:prstGeom prst="roundRect">
            <a:avLst>
              <a:gd name="adj" fmla="val 14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7" name="bn5"/>
          <p:cNvSpPr txBox="1"/>
          <p:nvPr/>
        </p:nvSpPr>
        <p:spPr>
          <a:xfrm>
            <a:off x="6375400" y="4241800"/>
            <a:ext cx="5080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8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48" name="h5"/>
          <p:cNvSpPr txBox="1"/>
          <p:nvPr/>
        </p:nvSpPr>
        <p:spPr>
          <a:xfrm>
            <a:off x="7061200" y="4203700"/>
            <a:ext cx="40894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500" b="1" dirty="0">
                <a:solidFill>
                  <a:srgbClr val="0E2841"/>
                </a:solidFill>
              </a:rPr>
              <a:t>Sin integración</a:t>
            </a:r>
          </a:p>
        </p:txBody>
      </p:sp>
      <p:sp>
        <p:nvSpPr>
          <p:cNvPr id="849" name="b5"/>
          <p:cNvSpPr txBox="1"/>
          <p:nvPr/>
        </p:nvSpPr>
        <p:spPr>
          <a:xfrm>
            <a:off x="7061200" y="4508500"/>
            <a:ext cx="4089400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200" dirty="0">
                <a:solidFill>
                  <a:srgbClr val="46535F"/>
                </a:solidFill>
              </a:rPr>
              <a:t>No hay conexión con stock real, facturación ni un eventual ERP.</a:t>
            </a:r>
          </a:p>
        </p:txBody>
      </p:sp>
      <p:sp>
        <p:nvSpPr>
          <p:cNvPr id="850" name="c6"/>
          <p:cNvSpPr/>
          <p:nvPr/>
        </p:nvSpPr>
        <p:spPr>
          <a:xfrm>
            <a:off x="838200" y="5207000"/>
            <a:ext cx="5181600" cy="109220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1" name="badge6"/>
          <p:cNvSpPr/>
          <p:nvPr/>
        </p:nvSpPr>
        <p:spPr>
          <a:xfrm>
            <a:off x="1041400" y="5435600"/>
            <a:ext cx="508000" cy="508000"/>
          </a:xfrm>
          <a:prstGeom prst="roundRect">
            <a:avLst>
              <a:gd name="adj" fmla="val 14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2" name="bn6"/>
          <p:cNvSpPr txBox="1"/>
          <p:nvPr/>
        </p:nvSpPr>
        <p:spPr>
          <a:xfrm>
            <a:off x="1041400" y="5435600"/>
            <a:ext cx="5080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8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853" name="h6"/>
          <p:cNvSpPr txBox="1"/>
          <p:nvPr/>
        </p:nvSpPr>
        <p:spPr>
          <a:xfrm>
            <a:off x="1727200" y="5397500"/>
            <a:ext cx="40894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500" b="1" dirty="0">
                <a:solidFill>
                  <a:srgbClr val="0E2841"/>
                </a:solidFill>
              </a:rPr>
              <a:t>Soporta </a:t>
            </a:r>
            <a:r>
              <a:rPr lang="es-AR" sz="1500" b="1" dirty="0" err="1">
                <a:solidFill>
                  <a:srgbClr val="0E2841"/>
                </a:solidFill>
              </a:rPr>
              <a:t>multiple</a:t>
            </a:r>
            <a:r>
              <a:rPr lang="es-AR" sz="1500" b="1" dirty="0">
                <a:solidFill>
                  <a:srgbClr val="0E2841"/>
                </a:solidFill>
              </a:rPr>
              <a:t> usuarios limitado </a:t>
            </a:r>
          </a:p>
        </p:txBody>
      </p:sp>
      <p:sp>
        <p:nvSpPr>
          <p:cNvPr id="854" name="b6"/>
          <p:cNvSpPr txBox="1"/>
          <p:nvPr/>
        </p:nvSpPr>
        <p:spPr>
          <a:xfrm>
            <a:off x="1727200" y="5702300"/>
            <a:ext cx="4089400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200" dirty="0">
                <a:solidFill>
                  <a:srgbClr val="46535F"/>
                </a:solidFill>
              </a:rPr>
              <a:t>soporta múltiples usuarios simultáneos pero limitado.</a:t>
            </a:r>
          </a:p>
        </p:txBody>
      </p:sp>
    </p:spTree>
    <p:extLst>
      <p:ext uri="{BB962C8B-B14F-4D97-AF65-F5344CB8AC3E}">
        <p14:creationId xmlns:p14="http://schemas.microsoft.com/office/powerpoint/2010/main" val="2762183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822C0-7DF8-8DA8-4DD5-8B8E98B83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10414000" cy="635000"/>
          </a:xfrm>
        </p:spPr>
        <p:txBody>
          <a:bodyPr/>
          <a:lstStyle/>
          <a:p>
            <a:pPr algn="l"/>
            <a:r>
              <a:rPr lang="es-AR" sz="3200" b="1" dirty="0">
                <a:solidFill>
                  <a:srgbClr val="0E2841"/>
                </a:solidFill>
              </a:rPr>
              <a:t>Objetivo del nuevo desarrollo</a:t>
            </a:r>
          </a:p>
        </p:txBody>
      </p:sp>
      <p:sp>
        <p:nvSpPr>
          <p:cNvPr id="800" name="kicker"/>
          <p:cNvSpPr txBox="1"/>
          <p:nvPr/>
        </p:nvSpPr>
        <p:spPr>
          <a:xfrm>
            <a:off x="838200" y="304800"/>
            <a:ext cx="10414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300" b="1" spc="240" dirty="0">
                <a:solidFill>
                  <a:srgbClr val="E97132"/>
                </a:solidFill>
              </a:rPr>
              <a:t>SECCIÓN 3 · VISIÓN TO BE</a:t>
            </a:r>
          </a:p>
        </p:txBody>
      </p:sp>
      <p:sp>
        <p:nvSpPr>
          <p:cNvPr id="801" name="intro"/>
          <p:cNvSpPr txBox="1"/>
          <p:nvPr/>
        </p:nvSpPr>
        <p:spPr>
          <a:xfrm>
            <a:off x="838200" y="1371600"/>
            <a:ext cx="10515600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600" dirty="0">
                <a:solidFill>
                  <a:srgbClr val="33414F"/>
                </a:solidFill>
              </a:rPr>
              <a:t>Reemplazar el archivo Excel por una aplicación web —o herramienta equivalente— que cumpla, como mínimo, la misma función actual y siente las bases para crecer.</a:t>
            </a:r>
          </a:p>
        </p:txBody>
      </p:sp>
      <p:sp>
        <p:nvSpPr>
          <p:cNvPr id="810" name="from"/>
          <p:cNvSpPr/>
          <p:nvPr/>
        </p:nvSpPr>
        <p:spPr>
          <a:xfrm>
            <a:off x="838200" y="2133600"/>
            <a:ext cx="4572000" cy="1219200"/>
          </a:xfrm>
          <a:prstGeom prst="roundRect">
            <a:avLst>
              <a:gd name="adj" fmla="val 10000"/>
            </a:avLst>
          </a:prstGeom>
          <a:solidFill>
            <a:srgbClr val="EEF2F6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11" name="ft"/>
          <p:cNvSpPr txBox="1"/>
          <p:nvPr/>
        </p:nvSpPr>
        <p:spPr>
          <a:xfrm>
            <a:off x="1092200" y="2336800"/>
            <a:ext cx="4064000" cy="812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s-AR" sz="1150" b="1" spc="120" dirty="0">
                <a:solidFill>
                  <a:srgbClr val="6B7785"/>
                </a:solidFill>
              </a:rPr>
              <a:t>HOY</a:t>
            </a:r>
          </a:p>
          <a:p>
            <a:r>
              <a:rPr lang="es-AR" sz="1700" b="1" dirty="0">
                <a:solidFill>
                  <a:srgbClr val="0E2841"/>
                </a:solidFill>
              </a:rPr>
              <a:t>Planilla Excel compartida</a:t>
            </a:r>
          </a:p>
        </p:txBody>
      </p:sp>
      <p:sp>
        <p:nvSpPr>
          <p:cNvPr id="812" name="arrow"/>
          <p:cNvSpPr/>
          <p:nvPr/>
        </p:nvSpPr>
        <p:spPr>
          <a:xfrm>
            <a:off x="5562600" y="2489200"/>
            <a:ext cx="1066800" cy="50800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14" name="to"/>
          <p:cNvSpPr/>
          <p:nvPr/>
        </p:nvSpPr>
        <p:spPr>
          <a:xfrm>
            <a:off x="6781800" y="2133600"/>
            <a:ext cx="4572000" cy="1219200"/>
          </a:xfrm>
          <a:prstGeom prst="roundRect">
            <a:avLst>
              <a:gd name="adj" fmla="val 10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15" name="tt"/>
          <p:cNvSpPr txBox="1"/>
          <p:nvPr/>
        </p:nvSpPr>
        <p:spPr>
          <a:xfrm>
            <a:off x="7035800" y="2336800"/>
            <a:ext cx="4064000" cy="812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s-AR" sz="1150" b="1" spc="120" dirty="0">
                <a:solidFill>
                  <a:srgbClr val="BFE0EC"/>
                </a:solidFill>
              </a:rPr>
              <a:t>MAÑANA</a:t>
            </a:r>
          </a:p>
          <a:p>
            <a:r>
              <a:rPr lang="es-AR" sz="1700" b="1" dirty="0">
                <a:solidFill>
                  <a:srgbClr val="FFFFFF"/>
                </a:solidFill>
              </a:rPr>
              <a:t>Aplicación web</a:t>
            </a:r>
          </a:p>
        </p:txBody>
      </p:sp>
      <p:sp>
        <p:nvSpPr>
          <p:cNvPr id="820" name="ac0"/>
          <p:cNvSpPr/>
          <p:nvPr/>
        </p:nvSpPr>
        <p:spPr>
          <a:xfrm>
            <a:off x="838200" y="3810000"/>
            <a:ext cx="5181600" cy="1930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1" name="ab0"/>
          <p:cNvSpPr/>
          <p:nvPr/>
        </p:nvSpPr>
        <p:spPr>
          <a:xfrm>
            <a:off x="838200" y="3810000"/>
            <a:ext cx="5181600" cy="101600"/>
          </a:xfrm>
          <a:prstGeom prst="roundRect">
            <a:avLst>
              <a:gd name="adj" fmla="val 2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2" name="at0"/>
          <p:cNvSpPr txBox="1"/>
          <p:nvPr/>
        </p:nvSpPr>
        <p:spPr>
          <a:xfrm>
            <a:off x="1143000" y="4165600"/>
            <a:ext cx="4572000" cy="35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900" b="1" dirty="0">
                <a:solidFill>
                  <a:srgbClr val="156082"/>
                </a:solidFill>
              </a:rPr>
              <a:t>Requerimientos Mínimos</a:t>
            </a:r>
          </a:p>
        </p:txBody>
      </p:sp>
      <p:sp>
        <p:nvSpPr>
          <p:cNvPr id="823" name="ad0"/>
          <p:cNvSpPr txBox="1"/>
          <p:nvPr/>
        </p:nvSpPr>
        <p:spPr>
          <a:xfrm>
            <a:off x="1143000" y="4648200"/>
            <a:ext cx="4572000" cy="965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50" dirty="0">
                <a:solidFill>
                  <a:srgbClr val="46535F"/>
                </a:solidFill>
              </a:rPr>
              <a:t>Funcionalidades indispensables para que el reemplazo del Excel sea viable en el día a día del punto de venta.</a:t>
            </a:r>
          </a:p>
        </p:txBody>
      </p:sp>
      <p:sp>
        <p:nvSpPr>
          <p:cNvPr id="824" name="ac1"/>
          <p:cNvSpPr/>
          <p:nvPr/>
        </p:nvSpPr>
        <p:spPr>
          <a:xfrm>
            <a:off x="6172200" y="3810000"/>
            <a:ext cx="5181600" cy="1930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5" name="ab1"/>
          <p:cNvSpPr/>
          <p:nvPr/>
        </p:nvSpPr>
        <p:spPr>
          <a:xfrm>
            <a:off x="6172200" y="3810000"/>
            <a:ext cx="5181600" cy="101600"/>
          </a:xfrm>
          <a:prstGeom prst="roundRect">
            <a:avLst>
              <a:gd name="adj" fmla="val 2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6" name="at1"/>
          <p:cNvSpPr txBox="1"/>
          <p:nvPr/>
        </p:nvSpPr>
        <p:spPr>
          <a:xfrm>
            <a:off x="6477000" y="4165600"/>
            <a:ext cx="4572000" cy="35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900" b="1" dirty="0">
                <a:solidFill>
                  <a:srgbClr val="E97132"/>
                </a:solidFill>
              </a:rPr>
              <a:t>Requerimientos Deseables</a:t>
            </a:r>
          </a:p>
        </p:txBody>
      </p:sp>
      <p:sp>
        <p:nvSpPr>
          <p:cNvPr id="827" name="ad1"/>
          <p:cNvSpPr txBox="1"/>
          <p:nvPr/>
        </p:nvSpPr>
        <p:spPr>
          <a:xfrm>
            <a:off x="6477000" y="4648200"/>
            <a:ext cx="4572000" cy="965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50" dirty="0">
                <a:solidFill>
                  <a:srgbClr val="46535F"/>
                </a:solidFill>
              </a:rPr>
              <a:t>Funcionalidades que agregan valor; se evalúan según complejidad, plazo y costo, y se cotizan por separado.</a:t>
            </a:r>
          </a:p>
        </p:txBody>
      </p:sp>
    </p:spTree>
    <p:extLst>
      <p:ext uri="{BB962C8B-B14F-4D97-AF65-F5344CB8AC3E}">
        <p14:creationId xmlns:p14="http://schemas.microsoft.com/office/powerpoint/2010/main" val="1796388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66844-E28D-95EF-9761-3CD5DDB56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8890000" cy="635000"/>
          </a:xfrm>
        </p:spPr>
        <p:txBody>
          <a:bodyPr/>
          <a:lstStyle/>
          <a:p>
            <a:pPr algn="l"/>
            <a:r>
              <a:rPr lang="es-AR" sz="3200" b="1" dirty="0">
                <a:solidFill>
                  <a:srgbClr val="0E2841"/>
                </a:solidFill>
              </a:rPr>
              <a:t>Requerimientos mínimos</a:t>
            </a:r>
          </a:p>
        </p:txBody>
      </p:sp>
      <p:sp>
        <p:nvSpPr>
          <p:cNvPr id="800" name="kicker"/>
          <p:cNvSpPr txBox="1"/>
          <p:nvPr/>
        </p:nvSpPr>
        <p:spPr>
          <a:xfrm>
            <a:off x="838200" y="304800"/>
            <a:ext cx="10414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300" b="1" spc="240" dirty="0">
                <a:solidFill>
                  <a:srgbClr val="E97132"/>
                </a:solidFill>
              </a:rPr>
              <a:t>SECCIÓN 4 · ALCANCE FUNCIONAL</a:t>
            </a:r>
          </a:p>
        </p:txBody>
      </p:sp>
      <p:sp>
        <p:nvSpPr>
          <p:cNvPr id="801" name="tag"/>
          <p:cNvSpPr/>
          <p:nvPr/>
        </p:nvSpPr>
        <p:spPr>
          <a:xfrm>
            <a:off x="9779000" y="660400"/>
            <a:ext cx="1574800" cy="381000"/>
          </a:xfrm>
          <a:prstGeom prst="roundRect">
            <a:avLst>
              <a:gd name="adj" fmla="val 30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02" name="tagt"/>
          <p:cNvSpPr txBox="1"/>
          <p:nvPr/>
        </p:nvSpPr>
        <p:spPr>
          <a:xfrm>
            <a:off x="9779000" y="736600"/>
            <a:ext cx="15748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150" b="1" dirty="0">
                <a:solidFill>
                  <a:srgbClr val="FFFFFF"/>
                </a:solidFill>
              </a:rPr>
              <a:t>INDISPENSABLES</a:t>
            </a:r>
          </a:p>
        </p:txBody>
      </p:sp>
      <p:sp>
        <p:nvSpPr>
          <p:cNvPr id="803" name="sub"/>
          <p:cNvSpPr txBox="1"/>
          <p:nvPr/>
        </p:nvSpPr>
        <p:spPr>
          <a:xfrm>
            <a:off x="838200" y="1320800"/>
            <a:ext cx="105156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500" dirty="0">
                <a:solidFill>
                  <a:srgbClr val="33414F"/>
                </a:solidFill>
              </a:rPr>
              <a:t>Condición necesaria para reemplazar al Excel actual.</a:t>
            </a:r>
          </a:p>
        </p:txBody>
      </p:sp>
      <p:sp>
        <p:nvSpPr>
          <p:cNvPr id="820" name="c0"/>
          <p:cNvSpPr/>
          <p:nvPr/>
        </p:nvSpPr>
        <p:spPr>
          <a:xfrm>
            <a:off x="838200" y="1854200"/>
            <a:ext cx="5181600" cy="21082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1" name="bd0"/>
          <p:cNvSpPr/>
          <p:nvPr/>
        </p:nvSpPr>
        <p:spPr>
          <a:xfrm>
            <a:off x="1143000" y="2159000"/>
            <a:ext cx="584200" cy="584200"/>
          </a:xfrm>
          <a:prstGeom prst="roundRect">
            <a:avLst>
              <a:gd name="adj" fmla="val 24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2" name="bn0"/>
          <p:cNvSpPr txBox="1"/>
          <p:nvPr/>
        </p:nvSpPr>
        <p:spPr>
          <a:xfrm>
            <a:off x="1143000" y="2159000"/>
            <a:ext cx="584200" cy="584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23" name="h0"/>
          <p:cNvSpPr txBox="1"/>
          <p:nvPr/>
        </p:nvSpPr>
        <p:spPr>
          <a:xfrm>
            <a:off x="1930400" y="2159000"/>
            <a:ext cx="37846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800" b="1" dirty="0">
                <a:solidFill>
                  <a:srgbClr val="0E2841"/>
                </a:solidFill>
              </a:rPr>
              <a:t>Ver stock por sucursal</a:t>
            </a:r>
          </a:p>
        </p:txBody>
      </p:sp>
      <p:sp>
        <p:nvSpPr>
          <p:cNvPr id="824" name="b0"/>
          <p:cNvSpPr txBox="1"/>
          <p:nvPr/>
        </p:nvSpPr>
        <p:spPr>
          <a:xfrm>
            <a:off x="1143000" y="289560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350" dirty="0">
                <a:solidFill>
                  <a:srgbClr val="46535F"/>
                </a:solidFill>
              </a:rPr>
              <a:t>Mostrar la disponibilidad del producto consultado, discriminada por sucursal/local, para no ofrecer productos sin stock.</a:t>
            </a:r>
          </a:p>
        </p:txBody>
      </p:sp>
      <p:sp>
        <p:nvSpPr>
          <p:cNvPr id="825" name="c1"/>
          <p:cNvSpPr/>
          <p:nvPr/>
        </p:nvSpPr>
        <p:spPr>
          <a:xfrm>
            <a:off x="6172200" y="1854200"/>
            <a:ext cx="5181600" cy="21082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6" name="bd1"/>
          <p:cNvSpPr/>
          <p:nvPr/>
        </p:nvSpPr>
        <p:spPr>
          <a:xfrm>
            <a:off x="6477000" y="2159000"/>
            <a:ext cx="584200" cy="584200"/>
          </a:xfrm>
          <a:prstGeom prst="roundRect">
            <a:avLst>
              <a:gd name="adj" fmla="val 24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7" name="bn1"/>
          <p:cNvSpPr txBox="1"/>
          <p:nvPr/>
        </p:nvSpPr>
        <p:spPr>
          <a:xfrm>
            <a:off x="6477000" y="2159000"/>
            <a:ext cx="584200" cy="584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28" name="h1"/>
          <p:cNvSpPr txBox="1"/>
          <p:nvPr/>
        </p:nvSpPr>
        <p:spPr>
          <a:xfrm>
            <a:off x="7264400" y="2159000"/>
            <a:ext cx="37846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800" b="1" dirty="0">
                <a:solidFill>
                  <a:srgbClr val="0E2841"/>
                </a:solidFill>
              </a:rPr>
              <a:t>Distintos usuarios</a:t>
            </a:r>
          </a:p>
        </p:txBody>
      </p:sp>
      <p:sp>
        <p:nvSpPr>
          <p:cNvPr id="829" name="b1"/>
          <p:cNvSpPr txBox="1"/>
          <p:nvPr/>
        </p:nvSpPr>
        <p:spPr>
          <a:xfrm>
            <a:off x="6477000" y="289560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350" dirty="0">
                <a:solidFill>
                  <a:srgbClr val="46535F"/>
                </a:solidFill>
              </a:rPr>
              <a:t>Incorporar inicio de sesión y gestión de usuarios, reemplazando el acceso libre actual: saber quién consulta y modifica.</a:t>
            </a:r>
          </a:p>
        </p:txBody>
      </p:sp>
      <p:sp>
        <p:nvSpPr>
          <p:cNvPr id="830" name="c2"/>
          <p:cNvSpPr/>
          <p:nvPr/>
        </p:nvSpPr>
        <p:spPr>
          <a:xfrm>
            <a:off x="838200" y="4140200"/>
            <a:ext cx="5181600" cy="21082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1" name="bd2"/>
          <p:cNvSpPr/>
          <p:nvPr/>
        </p:nvSpPr>
        <p:spPr>
          <a:xfrm>
            <a:off x="1143000" y="4445000"/>
            <a:ext cx="584200" cy="584200"/>
          </a:xfrm>
          <a:prstGeom prst="roundRect">
            <a:avLst>
              <a:gd name="adj" fmla="val 24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2" name="bn2"/>
          <p:cNvSpPr txBox="1"/>
          <p:nvPr/>
        </p:nvSpPr>
        <p:spPr>
          <a:xfrm>
            <a:off x="1143000" y="4445000"/>
            <a:ext cx="584200" cy="584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33" name="h2"/>
          <p:cNvSpPr txBox="1"/>
          <p:nvPr/>
        </p:nvSpPr>
        <p:spPr>
          <a:xfrm>
            <a:off x="1930400" y="4445000"/>
            <a:ext cx="37846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800" b="1" dirty="0">
                <a:solidFill>
                  <a:srgbClr val="0E2841"/>
                </a:solidFill>
              </a:rPr>
              <a:t>Medios de pago sin interés</a:t>
            </a:r>
          </a:p>
        </p:txBody>
      </p:sp>
      <p:sp>
        <p:nvSpPr>
          <p:cNvPr id="834" name="b2"/>
          <p:cNvSpPr txBox="1"/>
          <p:nvPr/>
        </p:nvSpPr>
        <p:spPr>
          <a:xfrm>
            <a:off x="1143000" y="518160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350" dirty="0">
                <a:solidFill>
                  <a:srgbClr val="46535F"/>
                </a:solidFill>
              </a:rPr>
              <a:t>Por cada producto u oferta, informar las entidades con cuotas sin interés y el tope de cuotas de cada una.</a:t>
            </a:r>
          </a:p>
        </p:txBody>
      </p:sp>
      <p:sp>
        <p:nvSpPr>
          <p:cNvPr id="835" name="c3"/>
          <p:cNvSpPr/>
          <p:nvPr/>
        </p:nvSpPr>
        <p:spPr>
          <a:xfrm>
            <a:off x="6172200" y="4140200"/>
            <a:ext cx="5181600" cy="21082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6" name="bd3"/>
          <p:cNvSpPr/>
          <p:nvPr/>
        </p:nvSpPr>
        <p:spPr>
          <a:xfrm>
            <a:off x="6477000" y="4445000"/>
            <a:ext cx="584200" cy="584200"/>
          </a:xfrm>
          <a:prstGeom prst="roundRect">
            <a:avLst>
              <a:gd name="adj" fmla="val 24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7" name="bn3"/>
          <p:cNvSpPr txBox="1"/>
          <p:nvPr/>
        </p:nvSpPr>
        <p:spPr>
          <a:xfrm>
            <a:off x="6477000" y="4445000"/>
            <a:ext cx="584200" cy="584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2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38" name="h3"/>
          <p:cNvSpPr txBox="1"/>
          <p:nvPr/>
        </p:nvSpPr>
        <p:spPr>
          <a:xfrm>
            <a:off x="7264400" y="4445000"/>
            <a:ext cx="37846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800" b="1" dirty="0">
                <a:solidFill>
                  <a:srgbClr val="0E2841"/>
                </a:solidFill>
              </a:rPr>
              <a:t>Vigencia de la oferta</a:t>
            </a:r>
          </a:p>
        </p:txBody>
      </p:sp>
      <p:sp>
        <p:nvSpPr>
          <p:cNvPr id="839" name="b3"/>
          <p:cNvSpPr txBox="1"/>
          <p:nvPr/>
        </p:nvSpPr>
        <p:spPr>
          <a:xfrm>
            <a:off x="6477000" y="518160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350" dirty="0">
                <a:solidFill>
                  <a:srgbClr val="46535F"/>
                </a:solidFill>
              </a:rPr>
              <a:t>Controlar automáticamente las fechas de inicio y fin de cada campaña: una oferta vencida deja de mostrarse.</a:t>
            </a:r>
          </a:p>
        </p:txBody>
      </p:sp>
    </p:spTree>
    <p:extLst>
      <p:ext uri="{BB962C8B-B14F-4D97-AF65-F5344CB8AC3E}">
        <p14:creationId xmlns:p14="http://schemas.microsoft.com/office/powerpoint/2010/main" val="2795947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78525-A797-6335-9FA2-F9FAEDD44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8229600" cy="635000"/>
          </a:xfrm>
        </p:spPr>
        <p:txBody>
          <a:bodyPr/>
          <a:lstStyle/>
          <a:p>
            <a:pPr algn="l"/>
            <a:r>
              <a:rPr lang="es-AR" sz="3200" b="1" dirty="0">
                <a:solidFill>
                  <a:srgbClr val="0E2841"/>
                </a:solidFill>
              </a:rPr>
              <a:t>Requerimientos deseables</a:t>
            </a:r>
          </a:p>
        </p:txBody>
      </p:sp>
      <p:sp>
        <p:nvSpPr>
          <p:cNvPr id="800" name="kicker"/>
          <p:cNvSpPr txBox="1"/>
          <p:nvPr/>
        </p:nvSpPr>
        <p:spPr>
          <a:xfrm>
            <a:off x="838200" y="304800"/>
            <a:ext cx="10414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300" b="1" spc="240" dirty="0">
                <a:solidFill>
                  <a:srgbClr val="E97132"/>
                </a:solidFill>
              </a:rPr>
              <a:t>SECCIÓN 4 · ALCANCE FUNCIONAL</a:t>
            </a:r>
          </a:p>
        </p:txBody>
      </p:sp>
      <p:sp>
        <p:nvSpPr>
          <p:cNvPr id="801" name="tag"/>
          <p:cNvSpPr/>
          <p:nvPr/>
        </p:nvSpPr>
        <p:spPr>
          <a:xfrm>
            <a:off x="9423400" y="660400"/>
            <a:ext cx="1930400" cy="381000"/>
          </a:xfrm>
          <a:prstGeom prst="roundRect">
            <a:avLst>
              <a:gd name="adj" fmla="val 30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02" name="tagt"/>
          <p:cNvSpPr txBox="1"/>
          <p:nvPr/>
        </p:nvSpPr>
        <p:spPr>
          <a:xfrm>
            <a:off x="9423400" y="736600"/>
            <a:ext cx="19304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150" b="1" dirty="0">
                <a:solidFill>
                  <a:srgbClr val="FFFFFF"/>
                </a:solidFill>
              </a:rPr>
              <a:t>VALOR AGREGADO</a:t>
            </a:r>
          </a:p>
        </p:txBody>
      </p:sp>
      <p:sp>
        <p:nvSpPr>
          <p:cNvPr id="803" name="sub"/>
          <p:cNvSpPr txBox="1"/>
          <p:nvPr/>
        </p:nvSpPr>
        <p:spPr>
          <a:xfrm>
            <a:off x="838200" y="1320800"/>
            <a:ext cx="105156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00" dirty="0">
                <a:solidFill>
                  <a:srgbClr val="33414F"/>
                </a:solidFill>
              </a:rPr>
              <a:t>Funcionalidades a cotizar por separado, según complejidad, plazo y costo.</a:t>
            </a:r>
          </a:p>
        </p:txBody>
      </p:sp>
      <p:sp>
        <p:nvSpPr>
          <p:cNvPr id="820" name="c0"/>
          <p:cNvSpPr/>
          <p:nvPr/>
        </p:nvSpPr>
        <p:spPr>
          <a:xfrm>
            <a:off x="838200" y="1778000"/>
            <a:ext cx="1978152" cy="139700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1" name="bd0"/>
          <p:cNvSpPr/>
          <p:nvPr/>
        </p:nvSpPr>
        <p:spPr>
          <a:xfrm>
            <a:off x="1041400" y="1981200"/>
            <a:ext cx="234448" cy="406400"/>
          </a:xfrm>
          <a:prstGeom prst="roundRect">
            <a:avLst>
              <a:gd name="adj" fmla="val 24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2" name="bn0"/>
          <p:cNvSpPr txBox="1"/>
          <p:nvPr/>
        </p:nvSpPr>
        <p:spPr>
          <a:xfrm>
            <a:off x="1041400" y="1981200"/>
            <a:ext cx="234448" cy="40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23" name="h0"/>
          <p:cNvSpPr txBox="1"/>
          <p:nvPr/>
        </p:nvSpPr>
        <p:spPr>
          <a:xfrm>
            <a:off x="1549400" y="2006600"/>
            <a:ext cx="1450645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r>
              <a:rPr lang="es-AR" sz="1550" b="1" dirty="0">
                <a:solidFill>
                  <a:srgbClr val="0E2841"/>
                </a:solidFill>
              </a:rPr>
              <a:t>Nombre de campaña</a:t>
            </a:r>
          </a:p>
        </p:txBody>
      </p:sp>
      <p:sp>
        <p:nvSpPr>
          <p:cNvPr id="824" name="b0"/>
          <p:cNvSpPr txBox="1"/>
          <p:nvPr/>
        </p:nvSpPr>
        <p:spPr>
          <a:xfrm>
            <a:off x="1041400" y="2514600"/>
            <a:ext cx="1743704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00" dirty="0">
                <a:solidFill>
                  <a:srgbClr val="46535F"/>
                </a:solidFill>
              </a:rPr>
              <a:t>Filtrar y reportar por campaña.</a:t>
            </a:r>
          </a:p>
        </p:txBody>
      </p:sp>
      <p:sp>
        <p:nvSpPr>
          <p:cNvPr id="825" name="c1"/>
          <p:cNvSpPr/>
          <p:nvPr/>
        </p:nvSpPr>
        <p:spPr>
          <a:xfrm>
            <a:off x="2968955" y="1778000"/>
            <a:ext cx="1978152" cy="139700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6" name="bd1"/>
          <p:cNvSpPr/>
          <p:nvPr/>
        </p:nvSpPr>
        <p:spPr>
          <a:xfrm>
            <a:off x="3172155" y="1981200"/>
            <a:ext cx="234448" cy="406400"/>
          </a:xfrm>
          <a:prstGeom prst="roundRect">
            <a:avLst>
              <a:gd name="adj" fmla="val 24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7" name="bn1"/>
          <p:cNvSpPr txBox="1"/>
          <p:nvPr/>
        </p:nvSpPr>
        <p:spPr>
          <a:xfrm>
            <a:off x="3172155" y="1981200"/>
            <a:ext cx="234448" cy="40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28" name="h1"/>
          <p:cNvSpPr txBox="1"/>
          <p:nvPr/>
        </p:nvSpPr>
        <p:spPr>
          <a:xfrm>
            <a:off x="3680155" y="2006600"/>
            <a:ext cx="1450645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r>
              <a:rPr lang="es-AR" sz="1550" b="1" dirty="0">
                <a:solidFill>
                  <a:srgbClr val="0E2841"/>
                </a:solidFill>
              </a:rPr>
              <a:t>Comprometer stock</a:t>
            </a:r>
          </a:p>
        </p:txBody>
      </p:sp>
      <p:sp>
        <p:nvSpPr>
          <p:cNvPr id="829" name="b1"/>
          <p:cNvSpPr txBox="1"/>
          <p:nvPr/>
        </p:nvSpPr>
        <p:spPr>
          <a:xfrm>
            <a:off x="3172155" y="2514600"/>
            <a:ext cx="1743704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00" dirty="0">
                <a:solidFill>
                  <a:srgbClr val="46535F"/>
                </a:solidFill>
              </a:rPr>
              <a:t>Reservar stock al cotizar.</a:t>
            </a:r>
          </a:p>
        </p:txBody>
      </p:sp>
      <p:sp>
        <p:nvSpPr>
          <p:cNvPr id="830" name="c2"/>
          <p:cNvSpPr/>
          <p:nvPr/>
        </p:nvSpPr>
        <p:spPr>
          <a:xfrm>
            <a:off x="5150307" y="1784096"/>
            <a:ext cx="1755648" cy="139700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1" name="bd2"/>
          <p:cNvSpPr/>
          <p:nvPr/>
        </p:nvSpPr>
        <p:spPr>
          <a:xfrm>
            <a:off x="5353507" y="1987296"/>
            <a:ext cx="208077" cy="406400"/>
          </a:xfrm>
          <a:prstGeom prst="roundRect">
            <a:avLst>
              <a:gd name="adj" fmla="val 24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2" name="bn2"/>
          <p:cNvSpPr txBox="1"/>
          <p:nvPr/>
        </p:nvSpPr>
        <p:spPr>
          <a:xfrm>
            <a:off x="5353507" y="1987296"/>
            <a:ext cx="208077" cy="40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33" name="h2"/>
          <p:cNvSpPr txBox="1"/>
          <p:nvPr/>
        </p:nvSpPr>
        <p:spPr>
          <a:xfrm>
            <a:off x="5861507" y="2012696"/>
            <a:ext cx="1287475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r>
              <a:rPr lang="es-AR" sz="1550" b="1" dirty="0">
                <a:solidFill>
                  <a:srgbClr val="0E2841"/>
                </a:solidFill>
              </a:rPr>
              <a:t>Venta de servicios</a:t>
            </a:r>
          </a:p>
        </p:txBody>
      </p:sp>
      <p:sp>
        <p:nvSpPr>
          <p:cNvPr id="834" name="b2"/>
          <p:cNvSpPr txBox="1"/>
          <p:nvPr/>
        </p:nvSpPr>
        <p:spPr>
          <a:xfrm>
            <a:off x="5353507" y="2520696"/>
            <a:ext cx="1547571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r>
              <a:rPr lang="es-AR" sz="1400" dirty="0">
                <a:solidFill>
                  <a:srgbClr val="46535F"/>
                </a:solidFill>
              </a:rPr>
              <a:t>Garantía, instalación, seguros.</a:t>
            </a:r>
          </a:p>
        </p:txBody>
      </p:sp>
      <p:sp>
        <p:nvSpPr>
          <p:cNvPr id="835" name="c3"/>
          <p:cNvSpPr/>
          <p:nvPr/>
        </p:nvSpPr>
        <p:spPr>
          <a:xfrm>
            <a:off x="7019544" y="1752600"/>
            <a:ext cx="1946904" cy="139700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6" name="bd3"/>
          <p:cNvSpPr/>
          <p:nvPr/>
        </p:nvSpPr>
        <p:spPr>
          <a:xfrm>
            <a:off x="7222744" y="1955800"/>
            <a:ext cx="230744" cy="406400"/>
          </a:xfrm>
          <a:prstGeom prst="roundRect">
            <a:avLst>
              <a:gd name="adj" fmla="val 24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7" name="bn3"/>
          <p:cNvSpPr txBox="1"/>
          <p:nvPr/>
        </p:nvSpPr>
        <p:spPr>
          <a:xfrm>
            <a:off x="7222744" y="1955800"/>
            <a:ext cx="230744" cy="40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38" name="h3"/>
          <p:cNvSpPr txBox="1"/>
          <p:nvPr/>
        </p:nvSpPr>
        <p:spPr>
          <a:xfrm>
            <a:off x="7730744" y="1981200"/>
            <a:ext cx="120816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r>
              <a:rPr lang="es-AR" sz="1550" b="1" dirty="0">
                <a:solidFill>
                  <a:srgbClr val="0E2841"/>
                </a:solidFill>
              </a:rPr>
              <a:t>Precios completos afiliados y no afiliados</a:t>
            </a:r>
          </a:p>
        </p:txBody>
      </p:sp>
      <p:sp>
        <p:nvSpPr>
          <p:cNvPr id="839" name="b3"/>
          <p:cNvSpPr txBox="1"/>
          <p:nvPr/>
        </p:nvSpPr>
        <p:spPr>
          <a:xfrm>
            <a:off x="7222744" y="2489200"/>
            <a:ext cx="1716160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00" dirty="0">
                <a:solidFill>
                  <a:srgbClr val="46535F"/>
                </a:solidFill>
              </a:rPr>
              <a:t>Lista y promo, no solo el final.</a:t>
            </a:r>
          </a:p>
        </p:txBody>
      </p:sp>
      <p:sp>
        <p:nvSpPr>
          <p:cNvPr id="840" name="c4"/>
          <p:cNvSpPr/>
          <p:nvPr/>
        </p:nvSpPr>
        <p:spPr>
          <a:xfrm>
            <a:off x="9216160" y="1752600"/>
            <a:ext cx="1755648" cy="139700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1" name="bd4"/>
          <p:cNvSpPr/>
          <p:nvPr/>
        </p:nvSpPr>
        <p:spPr>
          <a:xfrm>
            <a:off x="9304907" y="1902968"/>
            <a:ext cx="199341" cy="487680"/>
          </a:xfrm>
          <a:prstGeom prst="roundRect">
            <a:avLst>
              <a:gd name="adj" fmla="val 24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2" name="bn4"/>
          <p:cNvSpPr txBox="1"/>
          <p:nvPr/>
        </p:nvSpPr>
        <p:spPr>
          <a:xfrm>
            <a:off x="9304907" y="1902968"/>
            <a:ext cx="199341" cy="487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43" name="h4"/>
          <p:cNvSpPr txBox="1"/>
          <p:nvPr/>
        </p:nvSpPr>
        <p:spPr>
          <a:xfrm>
            <a:off x="9812907" y="1928368"/>
            <a:ext cx="123342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s-AR" sz="1550" b="1" dirty="0">
                <a:solidFill>
                  <a:srgbClr val="0E2841"/>
                </a:solidFill>
              </a:rPr>
              <a:t>Pagos con interés</a:t>
            </a:r>
          </a:p>
        </p:txBody>
      </p:sp>
      <p:sp>
        <p:nvSpPr>
          <p:cNvPr id="844" name="b4"/>
          <p:cNvSpPr txBox="1"/>
          <p:nvPr/>
        </p:nvSpPr>
        <p:spPr>
          <a:xfrm>
            <a:off x="9304907" y="2436368"/>
            <a:ext cx="1482601" cy="670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00" dirty="0">
                <a:solidFill>
                  <a:srgbClr val="46535F"/>
                </a:solidFill>
              </a:rPr>
              <a:t>Financiaciones con recargo.</a:t>
            </a:r>
          </a:p>
        </p:txBody>
      </p:sp>
      <p:sp>
        <p:nvSpPr>
          <p:cNvPr id="845" name="c5"/>
          <p:cNvSpPr/>
          <p:nvPr/>
        </p:nvSpPr>
        <p:spPr>
          <a:xfrm>
            <a:off x="838200" y="3327400"/>
            <a:ext cx="1946903" cy="139700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6" name="bd5"/>
          <p:cNvSpPr/>
          <p:nvPr/>
        </p:nvSpPr>
        <p:spPr>
          <a:xfrm>
            <a:off x="1143452" y="3500121"/>
            <a:ext cx="177892" cy="433493"/>
          </a:xfrm>
          <a:prstGeom prst="roundRect">
            <a:avLst>
              <a:gd name="adj" fmla="val 24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7" name="bn5"/>
          <p:cNvSpPr txBox="1"/>
          <p:nvPr/>
        </p:nvSpPr>
        <p:spPr>
          <a:xfrm>
            <a:off x="1126744" y="3500121"/>
            <a:ext cx="194600" cy="4334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5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48" name="h5"/>
          <p:cNvSpPr txBox="1"/>
          <p:nvPr/>
        </p:nvSpPr>
        <p:spPr>
          <a:xfrm>
            <a:off x="1651452" y="3525522"/>
            <a:ext cx="1100707" cy="406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r>
              <a:rPr lang="es-AR" sz="1550" b="1" dirty="0">
                <a:solidFill>
                  <a:srgbClr val="0E2841"/>
                </a:solidFill>
              </a:rPr>
              <a:t>Costos financieros</a:t>
            </a:r>
          </a:p>
        </p:txBody>
      </p:sp>
      <p:sp>
        <p:nvSpPr>
          <p:cNvPr id="849" name="b5"/>
          <p:cNvSpPr txBox="1"/>
          <p:nvPr/>
        </p:nvSpPr>
        <p:spPr>
          <a:xfrm>
            <a:off x="1143452" y="4033521"/>
            <a:ext cx="1323072" cy="5960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00" dirty="0">
                <a:solidFill>
                  <a:srgbClr val="46535F"/>
                </a:solidFill>
              </a:rPr>
              <a:t>CFT / TNA por financiación.</a:t>
            </a:r>
          </a:p>
        </p:txBody>
      </p:sp>
      <p:sp>
        <p:nvSpPr>
          <p:cNvPr id="850" name="c6"/>
          <p:cNvSpPr/>
          <p:nvPr/>
        </p:nvSpPr>
        <p:spPr>
          <a:xfrm>
            <a:off x="3101391" y="3327400"/>
            <a:ext cx="1709919" cy="139700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1" name="bd6"/>
          <p:cNvSpPr/>
          <p:nvPr/>
        </p:nvSpPr>
        <p:spPr>
          <a:xfrm>
            <a:off x="3112316" y="3449320"/>
            <a:ext cx="202657" cy="406400"/>
          </a:xfrm>
          <a:prstGeom prst="roundRect">
            <a:avLst>
              <a:gd name="adj" fmla="val 24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2" name="bn6"/>
          <p:cNvSpPr txBox="1"/>
          <p:nvPr/>
        </p:nvSpPr>
        <p:spPr>
          <a:xfrm>
            <a:off x="3112316" y="3449320"/>
            <a:ext cx="202657" cy="40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es-AR"/>
            </a:defPPr>
            <a:lvl1pPr algn="ctr">
              <a:defRPr sz="1500" b="1">
                <a:solidFill>
                  <a:srgbClr val="FFFFFF"/>
                </a:solidFill>
              </a:defRPr>
            </a:lvl1pPr>
          </a:lstStyle>
          <a:p>
            <a:r>
              <a:rPr lang="es-AR" dirty="0"/>
              <a:t>7</a:t>
            </a:r>
          </a:p>
        </p:txBody>
      </p:sp>
      <p:sp>
        <p:nvSpPr>
          <p:cNvPr id="853" name="h6"/>
          <p:cNvSpPr txBox="1"/>
          <p:nvPr/>
        </p:nvSpPr>
        <p:spPr>
          <a:xfrm>
            <a:off x="3693166" y="3474720"/>
            <a:ext cx="1253941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r>
              <a:rPr lang="es-AR" sz="1550" b="1" dirty="0">
                <a:solidFill>
                  <a:srgbClr val="0E2841"/>
                </a:solidFill>
              </a:rPr>
              <a:t>Listas de precio</a:t>
            </a:r>
          </a:p>
        </p:txBody>
      </p:sp>
      <p:sp>
        <p:nvSpPr>
          <p:cNvPr id="854" name="b6"/>
          <p:cNvSpPr txBox="1"/>
          <p:nvPr/>
        </p:nvSpPr>
        <p:spPr>
          <a:xfrm>
            <a:off x="3202720" y="3982720"/>
            <a:ext cx="1507262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00" dirty="0">
                <a:solidFill>
                  <a:srgbClr val="46535F"/>
                </a:solidFill>
              </a:rPr>
              <a:t>Precio según perfil de usuario.</a:t>
            </a:r>
          </a:p>
        </p:txBody>
      </p:sp>
      <p:sp>
        <p:nvSpPr>
          <p:cNvPr id="855" name="c7"/>
          <p:cNvSpPr/>
          <p:nvPr/>
        </p:nvSpPr>
        <p:spPr>
          <a:xfrm>
            <a:off x="5127598" y="3327400"/>
            <a:ext cx="1868209" cy="142240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6" name="bd7"/>
          <p:cNvSpPr/>
          <p:nvPr/>
        </p:nvSpPr>
        <p:spPr>
          <a:xfrm>
            <a:off x="5330798" y="3530600"/>
            <a:ext cx="264877" cy="406400"/>
          </a:xfrm>
          <a:prstGeom prst="roundRect">
            <a:avLst>
              <a:gd name="adj" fmla="val 24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7" name="bn7"/>
          <p:cNvSpPr txBox="1"/>
          <p:nvPr/>
        </p:nvSpPr>
        <p:spPr>
          <a:xfrm>
            <a:off x="5330798" y="3530600"/>
            <a:ext cx="264877" cy="40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es-AR"/>
            </a:defPPr>
            <a:lvl1pPr algn="ctr">
              <a:defRPr sz="1500" b="1">
                <a:solidFill>
                  <a:srgbClr val="FFFFFF"/>
                </a:solidFill>
              </a:defRPr>
            </a:lvl1pPr>
          </a:lstStyle>
          <a:p>
            <a:r>
              <a:rPr lang="es-AR" dirty="0"/>
              <a:t>8</a:t>
            </a:r>
          </a:p>
        </p:txBody>
      </p:sp>
      <p:sp>
        <p:nvSpPr>
          <p:cNvPr id="858" name="h7"/>
          <p:cNvSpPr txBox="1"/>
          <p:nvPr/>
        </p:nvSpPr>
        <p:spPr>
          <a:xfrm>
            <a:off x="5838798" y="3555999"/>
            <a:ext cx="1157009" cy="3879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r>
              <a:rPr lang="es-AR" sz="1550" b="1" dirty="0">
                <a:solidFill>
                  <a:srgbClr val="0E2841"/>
                </a:solidFill>
              </a:rPr>
              <a:t>«Ida» o «ida y vuelta»</a:t>
            </a:r>
          </a:p>
        </p:txBody>
      </p:sp>
      <p:sp>
        <p:nvSpPr>
          <p:cNvPr id="859" name="b7"/>
          <p:cNvSpPr txBox="1"/>
          <p:nvPr/>
        </p:nvSpPr>
        <p:spPr>
          <a:xfrm>
            <a:off x="5264093" y="4114800"/>
            <a:ext cx="1528076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00" dirty="0">
                <a:solidFill>
                  <a:srgbClr val="46535F"/>
                </a:solidFill>
              </a:rPr>
              <a:t>¿Solo consulta o también escribe?</a:t>
            </a:r>
          </a:p>
        </p:txBody>
      </p:sp>
      <p:sp>
        <p:nvSpPr>
          <p:cNvPr id="860" name="c8"/>
          <p:cNvSpPr/>
          <p:nvPr/>
        </p:nvSpPr>
        <p:spPr>
          <a:xfrm>
            <a:off x="7176317" y="3371596"/>
            <a:ext cx="1892808" cy="139700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61" name="bd8"/>
          <p:cNvSpPr/>
          <p:nvPr/>
        </p:nvSpPr>
        <p:spPr>
          <a:xfrm>
            <a:off x="7379517" y="3574796"/>
            <a:ext cx="301549" cy="406400"/>
          </a:xfrm>
          <a:prstGeom prst="roundRect">
            <a:avLst>
              <a:gd name="adj" fmla="val 24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62" name="bn8"/>
          <p:cNvSpPr txBox="1"/>
          <p:nvPr/>
        </p:nvSpPr>
        <p:spPr>
          <a:xfrm>
            <a:off x="7388661" y="3574796"/>
            <a:ext cx="301549" cy="40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500" b="1" dirty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863" name="h8"/>
          <p:cNvSpPr txBox="1"/>
          <p:nvPr/>
        </p:nvSpPr>
        <p:spPr>
          <a:xfrm>
            <a:off x="7905918" y="3600196"/>
            <a:ext cx="1388059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r>
              <a:rPr lang="es-AR" sz="1550" b="1" dirty="0">
                <a:solidFill>
                  <a:srgbClr val="0E2841"/>
                </a:solidFill>
              </a:rPr>
              <a:t>POS y facturación</a:t>
            </a:r>
          </a:p>
        </p:txBody>
      </p:sp>
      <p:sp>
        <p:nvSpPr>
          <p:cNvPr id="864" name="b8"/>
          <p:cNvSpPr txBox="1"/>
          <p:nvPr/>
        </p:nvSpPr>
        <p:spPr>
          <a:xfrm>
            <a:off x="7379517" y="4108196"/>
            <a:ext cx="16684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r>
              <a:rPr lang="es-AR" sz="1400" dirty="0">
                <a:solidFill>
                  <a:srgbClr val="46535F"/>
                </a:solidFill>
              </a:rPr>
              <a:t>¿Sistema transaccional completo?</a:t>
            </a:r>
          </a:p>
        </p:txBody>
      </p:sp>
      <p:sp>
        <p:nvSpPr>
          <p:cNvPr id="3" name="c8">
            <a:extLst>
              <a:ext uri="{FF2B5EF4-FFF2-40B4-BE49-F238E27FC236}">
                <a16:creationId xmlns:a16="http://schemas.microsoft.com/office/drawing/2014/main" id="{12B6673E-3CC5-87BA-230B-697A2F6043AC}"/>
              </a:ext>
            </a:extLst>
          </p:cNvPr>
          <p:cNvSpPr/>
          <p:nvPr/>
        </p:nvSpPr>
        <p:spPr>
          <a:xfrm>
            <a:off x="9338302" y="3409696"/>
            <a:ext cx="1892808" cy="139700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4" name="h8">
            <a:extLst>
              <a:ext uri="{FF2B5EF4-FFF2-40B4-BE49-F238E27FC236}">
                <a16:creationId xmlns:a16="http://schemas.microsoft.com/office/drawing/2014/main" id="{1F047CFF-9624-D36C-D24A-D5DBF4BCDEA1}"/>
              </a:ext>
            </a:extLst>
          </p:cNvPr>
          <p:cNvSpPr txBox="1"/>
          <p:nvPr/>
        </p:nvSpPr>
        <p:spPr>
          <a:xfrm>
            <a:off x="10049502" y="3638296"/>
            <a:ext cx="1388059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r>
              <a:rPr lang="es-MX" sz="1550" b="1" dirty="0" err="1">
                <a:solidFill>
                  <a:srgbClr val="0E2841"/>
                </a:solidFill>
              </a:rPr>
              <a:t>Impresió</a:t>
            </a:r>
            <a:r>
              <a:rPr lang="es-AR" sz="1550" b="1" dirty="0">
                <a:solidFill>
                  <a:srgbClr val="0E2841"/>
                </a:solidFill>
              </a:rPr>
              <a:t>n nota de venta para </a:t>
            </a:r>
          </a:p>
          <a:p>
            <a:r>
              <a:rPr lang="es-AR" sz="1550" b="1" dirty="0">
                <a:solidFill>
                  <a:srgbClr val="0E2841"/>
                </a:solidFill>
              </a:rPr>
              <a:t>auditoria</a:t>
            </a:r>
          </a:p>
        </p:txBody>
      </p:sp>
      <p:sp>
        <p:nvSpPr>
          <p:cNvPr id="5" name="b8">
            <a:extLst>
              <a:ext uri="{FF2B5EF4-FFF2-40B4-BE49-F238E27FC236}">
                <a16:creationId xmlns:a16="http://schemas.microsoft.com/office/drawing/2014/main" id="{4DC57BFA-20C7-5CA0-CE74-913614004E58}"/>
              </a:ext>
            </a:extLst>
          </p:cNvPr>
          <p:cNvSpPr txBox="1"/>
          <p:nvPr/>
        </p:nvSpPr>
        <p:spPr>
          <a:xfrm>
            <a:off x="9541502" y="4146296"/>
            <a:ext cx="16684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MX" sz="1400" dirty="0">
                <a:solidFill>
                  <a:srgbClr val="46535F"/>
                </a:solidFill>
              </a:rPr>
              <a:t>Necesario para legajos</a:t>
            </a:r>
            <a:endParaRPr lang="es-AR" sz="1400" dirty="0">
              <a:solidFill>
                <a:srgbClr val="46535F"/>
              </a:solidFill>
            </a:endParaRPr>
          </a:p>
        </p:txBody>
      </p:sp>
      <p:sp>
        <p:nvSpPr>
          <p:cNvPr id="7" name="bn8">
            <a:extLst>
              <a:ext uri="{FF2B5EF4-FFF2-40B4-BE49-F238E27FC236}">
                <a16:creationId xmlns:a16="http://schemas.microsoft.com/office/drawing/2014/main" id="{E0B499A2-BFA6-6CAD-BEA9-02EABCE4DEAD}"/>
              </a:ext>
            </a:extLst>
          </p:cNvPr>
          <p:cNvSpPr txBox="1"/>
          <p:nvPr/>
        </p:nvSpPr>
        <p:spPr>
          <a:xfrm>
            <a:off x="9460831" y="3574796"/>
            <a:ext cx="406400" cy="40640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500" b="1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" name="c8">
            <a:extLst>
              <a:ext uri="{FF2B5EF4-FFF2-40B4-BE49-F238E27FC236}">
                <a16:creationId xmlns:a16="http://schemas.microsoft.com/office/drawing/2014/main" id="{AA173CFC-C7C6-6E21-510B-4D3E3C545B39}"/>
              </a:ext>
            </a:extLst>
          </p:cNvPr>
          <p:cNvSpPr/>
          <p:nvPr/>
        </p:nvSpPr>
        <p:spPr>
          <a:xfrm>
            <a:off x="923544" y="4922522"/>
            <a:ext cx="1892808" cy="139700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9" name="h8">
            <a:extLst>
              <a:ext uri="{FF2B5EF4-FFF2-40B4-BE49-F238E27FC236}">
                <a16:creationId xmlns:a16="http://schemas.microsoft.com/office/drawing/2014/main" id="{6755BF66-E224-ED17-7BD7-87595B2A34F3}"/>
              </a:ext>
            </a:extLst>
          </p:cNvPr>
          <p:cNvSpPr txBox="1"/>
          <p:nvPr/>
        </p:nvSpPr>
        <p:spPr>
          <a:xfrm>
            <a:off x="1634744" y="5151122"/>
            <a:ext cx="1388059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r>
              <a:rPr lang="es-MX" sz="1550" b="1" dirty="0" err="1">
                <a:solidFill>
                  <a:srgbClr val="0E2841"/>
                </a:solidFill>
              </a:rPr>
              <a:t>Impresió</a:t>
            </a:r>
            <a:r>
              <a:rPr lang="es-AR" sz="1550" b="1" dirty="0">
                <a:solidFill>
                  <a:srgbClr val="0E2841"/>
                </a:solidFill>
              </a:rPr>
              <a:t>n nota de venta para </a:t>
            </a:r>
          </a:p>
          <a:p>
            <a:r>
              <a:rPr lang="es-AR" sz="1550" b="1" dirty="0">
                <a:solidFill>
                  <a:srgbClr val="0E2841"/>
                </a:solidFill>
              </a:rPr>
              <a:t>auditoria</a:t>
            </a:r>
          </a:p>
        </p:txBody>
      </p:sp>
      <p:sp>
        <p:nvSpPr>
          <p:cNvPr id="10" name="b8">
            <a:extLst>
              <a:ext uri="{FF2B5EF4-FFF2-40B4-BE49-F238E27FC236}">
                <a16:creationId xmlns:a16="http://schemas.microsoft.com/office/drawing/2014/main" id="{F7329692-5508-AC73-EDD9-911B58D4FD4F}"/>
              </a:ext>
            </a:extLst>
          </p:cNvPr>
          <p:cNvSpPr txBox="1"/>
          <p:nvPr/>
        </p:nvSpPr>
        <p:spPr>
          <a:xfrm>
            <a:off x="1126744" y="5659122"/>
            <a:ext cx="16684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MX" sz="1400" dirty="0">
                <a:solidFill>
                  <a:srgbClr val="46535F"/>
                </a:solidFill>
              </a:rPr>
              <a:t>Necesario para legajos</a:t>
            </a:r>
            <a:endParaRPr lang="es-AR" sz="1400" dirty="0">
              <a:solidFill>
                <a:srgbClr val="46535F"/>
              </a:solidFill>
            </a:endParaRPr>
          </a:p>
        </p:txBody>
      </p:sp>
      <p:sp>
        <p:nvSpPr>
          <p:cNvPr id="11" name="bn8">
            <a:extLst>
              <a:ext uri="{FF2B5EF4-FFF2-40B4-BE49-F238E27FC236}">
                <a16:creationId xmlns:a16="http://schemas.microsoft.com/office/drawing/2014/main" id="{143AE8E7-9B3F-9B3E-05F8-E3F21FAD3B77}"/>
              </a:ext>
            </a:extLst>
          </p:cNvPr>
          <p:cNvSpPr txBox="1"/>
          <p:nvPr/>
        </p:nvSpPr>
        <p:spPr>
          <a:xfrm>
            <a:off x="1046073" y="5087622"/>
            <a:ext cx="406400" cy="40640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ctr">
            <a:normAutofit/>
          </a:bodyPr>
          <a:lstStyle>
            <a:defPPr>
              <a:defRPr lang="es-AR"/>
            </a:defPPr>
            <a:lvl1pPr algn="ctr">
              <a:defRPr sz="1500" b="1">
                <a:solidFill>
                  <a:srgbClr val="FFFFFF"/>
                </a:solidFill>
              </a:defRPr>
            </a:lvl1pPr>
          </a:lstStyle>
          <a:p>
            <a:r>
              <a:rPr lang="es-AR" dirty="0"/>
              <a:t>11</a:t>
            </a:r>
          </a:p>
        </p:txBody>
      </p:sp>
      <p:sp>
        <p:nvSpPr>
          <p:cNvPr id="12" name="c8">
            <a:extLst>
              <a:ext uri="{FF2B5EF4-FFF2-40B4-BE49-F238E27FC236}">
                <a16:creationId xmlns:a16="http://schemas.microsoft.com/office/drawing/2014/main" id="{82A20E35-1759-7738-040B-E50952CCDB0D}"/>
              </a:ext>
            </a:extLst>
          </p:cNvPr>
          <p:cNvSpPr/>
          <p:nvPr/>
        </p:nvSpPr>
        <p:spPr>
          <a:xfrm>
            <a:off x="3118615" y="4960620"/>
            <a:ext cx="1892808" cy="139700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13" name="h8">
            <a:extLst>
              <a:ext uri="{FF2B5EF4-FFF2-40B4-BE49-F238E27FC236}">
                <a16:creationId xmlns:a16="http://schemas.microsoft.com/office/drawing/2014/main" id="{E1839D9D-E926-16EC-AFF3-DF0C19F44F43}"/>
              </a:ext>
            </a:extLst>
          </p:cNvPr>
          <p:cNvSpPr txBox="1"/>
          <p:nvPr/>
        </p:nvSpPr>
        <p:spPr>
          <a:xfrm>
            <a:off x="3829816" y="5189220"/>
            <a:ext cx="1181608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r>
              <a:rPr lang="es-MX" sz="1550" b="1" dirty="0" err="1">
                <a:solidFill>
                  <a:srgbClr val="0E2841"/>
                </a:solidFill>
              </a:rPr>
              <a:t>Envio</a:t>
            </a:r>
            <a:r>
              <a:rPr lang="es-MX" sz="1550" b="1" dirty="0">
                <a:solidFill>
                  <a:srgbClr val="0E2841"/>
                </a:solidFill>
              </a:rPr>
              <a:t> de factura por email</a:t>
            </a:r>
            <a:endParaRPr lang="es-AR" sz="1550" b="1" dirty="0">
              <a:solidFill>
                <a:srgbClr val="0E2841"/>
              </a:solidFill>
            </a:endParaRPr>
          </a:p>
        </p:txBody>
      </p:sp>
      <p:sp>
        <p:nvSpPr>
          <p:cNvPr id="14" name="b8">
            <a:extLst>
              <a:ext uri="{FF2B5EF4-FFF2-40B4-BE49-F238E27FC236}">
                <a16:creationId xmlns:a16="http://schemas.microsoft.com/office/drawing/2014/main" id="{6C7A25BA-7E5F-6D9A-3A73-98465395E68A}"/>
              </a:ext>
            </a:extLst>
          </p:cNvPr>
          <p:cNvSpPr txBox="1"/>
          <p:nvPr/>
        </p:nvSpPr>
        <p:spPr>
          <a:xfrm>
            <a:off x="3321815" y="5697220"/>
            <a:ext cx="16684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MX" sz="1400" dirty="0" err="1">
                <a:solidFill>
                  <a:srgbClr val="46535F"/>
                </a:solidFill>
              </a:rPr>
              <a:t>opcion</a:t>
            </a:r>
            <a:endParaRPr lang="es-AR" sz="1400" dirty="0">
              <a:solidFill>
                <a:srgbClr val="46535F"/>
              </a:solidFill>
            </a:endParaRPr>
          </a:p>
        </p:txBody>
      </p:sp>
      <p:sp>
        <p:nvSpPr>
          <p:cNvPr id="15" name="bn8">
            <a:extLst>
              <a:ext uri="{FF2B5EF4-FFF2-40B4-BE49-F238E27FC236}">
                <a16:creationId xmlns:a16="http://schemas.microsoft.com/office/drawing/2014/main" id="{703D6520-1680-E9B4-F230-D3D50B9B67A1}"/>
              </a:ext>
            </a:extLst>
          </p:cNvPr>
          <p:cNvSpPr txBox="1"/>
          <p:nvPr/>
        </p:nvSpPr>
        <p:spPr>
          <a:xfrm>
            <a:off x="3241144" y="5125720"/>
            <a:ext cx="406400" cy="40640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ctr">
            <a:normAutofit/>
          </a:bodyPr>
          <a:lstStyle>
            <a:defPPr>
              <a:defRPr lang="es-AR"/>
            </a:defPPr>
            <a:lvl1pPr algn="ctr">
              <a:defRPr sz="1500" b="1">
                <a:solidFill>
                  <a:srgbClr val="FFFFFF"/>
                </a:solidFill>
              </a:defRPr>
            </a:lvl1pPr>
          </a:lstStyle>
          <a:p>
            <a:r>
              <a:rPr lang="es-AR" dirty="0"/>
              <a:t>12</a:t>
            </a:r>
          </a:p>
        </p:txBody>
      </p:sp>
      <p:sp>
        <p:nvSpPr>
          <p:cNvPr id="16" name="c8">
            <a:extLst>
              <a:ext uri="{FF2B5EF4-FFF2-40B4-BE49-F238E27FC236}">
                <a16:creationId xmlns:a16="http://schemas.microsoft.com/office/drawing/2014/main" id="{288E2CDB-740E-777F-7AFB-FD952F64149F}"/>
              </a:ext>
            </a:extLst>
          </p:cNvPr>
          <p:cNvSpPr/>
          <p:nvPr/>
        </p:nvSpPr>
        <p:spPr>
          <a:xfrm>
            <a:off x="5127598" y="4998720"/>
            <a:ext cx="1892808" cy="139700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17" name="h8">
            <a:extLst>
              <a:ext uri="{FF2B5EF4-FFF2-40B4-BE49-F238E27FC236}">
                <a16:creationId xmlns:a16="http://schemas.microsoft.com/office/drawing/2014/main" id="{C482CD1E-0032-7CD1-580B-3204C32D638C}"/>
              </a:ext>
            </a:extLst>
          </p:cNvPr>
          <p:cNvSpPr txBox="1"/>
          <p:nvPr/>
        </p:nvSpPr>
        <p:spPr>
          <a:xfrm>
            <a:off x="5838799" y="5227320"/>
            <a:ext cx="1181608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r>
              <a:rPr lang="es-MX" sz="1550" b="1" dirty="0" err="1">
                <a:solidFill>
                  <a:srgbClr val="0E2841"/>
                </a:solidFill>
              </a:rPr>
              <a:t>Envio</a:t>
            </a:r>
            <a:r>
              <a:rPr lang="es-MX" sz="1550" b="1" dirty="0">
                <a:solidFill>
                  <a:srgbClr val="0E2841"/>
                </a:solidFill>
              </a:rPr>
              <a:t> de factura por email</a:t>
            </a:r>
            <a:endParaRPr lang="es-AR" sz="1550" b="1" dirty="0">
              <a:solidFill>
                <a:srgbClr val="0E2841"/>
              </a:solidFill>
            </a:endParaRPr>
          </a:p>
        </p:txBody>
      </p:sp>
      <p:sp>
        <p:nvSpPr>
          <p:cNvPr id="18" name="b8">
            <a:extLst>
              <a:ext uri="{FF2B5EF4-FFF2-40B4-BE49-F238E27FC236}">
                <a16:creationId xmlns:a16="http://schemas.microsoft.com/office/drawing/2014/main" id="{5C4F9C02-017C-BFE7-B285-5412142CFA24}"/>
              </a:ext>
            </a:extLst>
          </p:cNvPr>
          <p:cNvSpPr txBox="1"/>
          <p:nvPr/>
        </p:nvSpPr>
        <p:spPr>
          <a:xfrm>
            <a:off x="5330798" y="5735320"/>
            <a:ext cx="16684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MX" sz="1400" dirty="0" err="1">
                <a:solidFill>
                  <a:srgbClr val="46535F"/>
                </a:solidFill>
              </a:rPr>
              <a:t>opcion</a:t>
            </a:r>
            <a:endParaRPr lang="es-AR" sz="1400" dirty="0">
              <a:solidFill>
                <a:srgbClr val="46535F"/>
              </a:solidFill>
            </a:endParaRPr>
          </a:p>
        </p:txBody>
      </p:sp>
      <p:sp>
        <p:nvSpPr>
          <p:cNvPr id="19" name="bn8">
            <a:extLst>
              <a:ext uri="{FF2B5EF4-FFF2-40B4-BE49-F238E27FC236}">
                <a16:creationId xmlns:a16="http://schemas.microsoft.com/office/drawing/2014/main" id="{F7DC5574-5C6B-395F-AC3C-D03FB8E3AA85}"/>
              </a:ext>
            </a:extLst>
          </p:cNvPr>
          <p:cNvSpPr txBox="1"/>
          <p:nvPr/>
        </p:nvSpPr>
        <p:spPr>
          <a:xfrm>
            <a:off x="5250127" y="5163820"/>
            <a:ext cx="406400" cy="40640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500" b="1" dirty="0">
                <a:solidFill>
                  <a:srgbClr val="FFFFF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7643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9373A-C6C0-3AB7-C9A0-80B874266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9652000" cy="635000"/>
          </a:xfrm>
        </p:spPr>
        <p:txBody>
          <a:bodyPr/>
          <a:lstStyle/>
          <a:p>
            <a:pPr algn="l"/>
            <a:r>
              <a:rPr lang="es-AR" sz="3200" b="1" dirty="0">
                <a:solidFill>
                  <a:srgbClr val="0E2841"/>
                </a:solidFill>
              </a:rPr>
              <a:t>Arquitectura propuesta</a:t>
            </a:r>
          </a:p>
        </p:txBody>
      </p:sp>
      <p:sp>
        <p:nvSpPr>
          <p:cNvPr id="800" name="kicker"/>
          <p:cNvSpPr txBox="1"/>
          <p:nvPr/>
        </p:nvSpPr>
        <p:spPr>
          <a:xfrm>
            <a:off x="838200" y="304800"/>
            <a:ext cx="10414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00" b="1" spc="240" dirty="0">
                <a:solidFill>
                  <a:srgbClr val="E97132"/>
                </a:solidFill>
              </a:rPr>
              <a:t>SECCIÓN 5 · VISIÓN GENERAL</a:t>
            </a:r>
          </a:p>
        </p:txBody>
      </p:sp>
      <p:sp>
        <p:nvSpPr>
          <p:cNvPr id="810" name="A"/>
          <p:cNvSpPr/>
          <p:nvPr/>
        </p:nvSpPr>
        <p:spPr>
          <a:xfrm>
            <a:off x="838200" y="2159000"/>
            <a:ext cx="2286000" cy="1905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txBody>
          <a:bodyPr wrap="square" lIns="127000" tIns="101600" rIns="127000" bIns="101600" rtlCol="0" anchor="ctr">
            <a:normAutofit/>
          </a:bodyPr>
          <a:lstStyle/>
          <a:p>
            <a:pPr algn="ctr"/>
            <a:r>
              <a:rPr lang="es-AR" sz="1100" b="1" dirty="0">
                <a:solidFill>
                  <a:srgbClr val="156082"/>
                </a:solidFill>
              </a:rPr>
              <a:t>USUARIOS</a:t>
            </a:r>
          </a:p>
          <a:p>
            <a:pPr algn="ctr"/>
            <a:r>
              <a:rPr lang="es-AR" sz="1350" b="0" dirty="0">
                <a:solidFill>
                  <a:srgbClr val="46535F"/>
                </a:solidFill>
              </a:rPr>
              <a:t>Vendedor · Supervisor · Administrador</a:t>
            </a:r>
          </a:p>
        </p:txBody>
      </p:sp>
      <p:sp>
        <p:nvSpPr>
          <p:cNvPr id="811" name="B"/>
          <p:cNvSpPr/>
          <p:nvPr/>
        </p:nvSpPr>
        <p:spPr>
          <a:xfrm>
            <a:off x="3810000" y="2006600"/>
            <a:ext cx="3175000" cy="22352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>
            <a:noFill/>
          </a:ln>
        </p:spPr>
        <p:txBody>
          <a:bodyPr wrap="square" lIns="127000" tIns="101600" rIns="127000" bIns="101600" rtlCol="0" anchor="ctr">
            <a:normAutofit/>
          </a:bodyPr>
          <a:lstStyle/>
          <a:p>
            <a:pPr algn="ctr"/>
            <a:r>
              <a:rPr lang="es-AR" sz="1150" b="1" dirty="0">
                <a:solidFill>
                  <a:srgbClr val="FFFFFF"/>
                </a:solidFill>
              </a:rPr>
              <a:t>APLICACIÓN WEB</a:t>
            </a:r>
          </a:p>
          <a:p>
            <a:pPr algn="ctr"/>
            <a:r>
              <a:rPr lang="es-AR" sz="1450" b="0" dirty="0">
                <a:solidFill>
                  <a:srgbClr val="D8EAF1"/>
                </a:solidFill>
              </a:rPr>
              <a:t>Interfaz (PC / móvil)</a:t>
            </a:r>
          </a:p>
          <a:p>
            <a:pPr algn="ctr"/>
            <a:r>
              <a:rPr lang="es-AR" sz="1450" b="0" dirty="0">
                <a:solidFill>
                  <a:srgbClr val="D8EAF1"/>
                </a:solidFill>
              </a:rPr>
              <a:t>+ Lógica de negocio</a:t>
            </a:r>
          </a:p>
        </p:txBody>
      </p:sp>
      <p:sp>
        <p:nvSpPr>
          <p:cNvPr id="812" name="C"/>
          <p:cNvSpPr/>
          <p:nvPr/>
        </p:nvSpPr>
        <p:spPr>
          <a:xfrm>
            <a:off x="7670800" y="2159000"/>
            <a:ext cx="2819400" cy="1905000"/>
          </a:xfrm>
          <a:prstGeom prst="roundRect">
            <a:avLst>
              <a:gd name="adj" fmla="val 6000"/>
            </a:avLst>
          </a:prstGeom>
          <a:solidFill>
            <a:srgbClr val="0E2841"/>
          </a:solidFill>
          <a:ln>
            <a:noFill/>
          </a:ln>
        </p:spPr>
        <p:txBody>
          <a:bodyPr wrap="square" lIns="127000" tIns="101600" rIns="127000" bIns="101600" rtlCol="0" anchor="ctr">
            <a:normAutofit/>
          </a:bodyPr>
          <a:lstStyle/>
          <a:p>
            <a:pPr algn="ctr"/>
            <a:r>
              <a:rPr lang="es-AR" sz="1100" b="1" dirty="0">
                <a:solidFill>
                  <a:srgbClr val="FFFFFF"/>
                </a:solidFill>
              </a:rPr>
              <a:t>BASE DE DATOS CENTRAL</a:t>
            </a:r>
          </a:p>
          <a:p>
            <a:pPr algn="ctr"/>
            <a:r>
              <a:rPr lang="es-AR" sz="1350" b="0" dirty="0">
                <a:solidFill>
                  <a:srgbClr val="BFD0DC"/>
                </a:solidFill>
              </a:rPr>
              <a:t>Reemplaza las hojas de Excel</a:t>
            </a:r>
          </a:p>
        </p:txBody>
      </p:sp>
      <p:sp>
        <p:nvSpPr>
          <p:cNvPr id="820" name="ab"/>
          <p:cNvSpPr/>
          <p:nvPr/>
        </p:nvSpPr>
        <p:spPr>
          <a:xfrm>
            <a:off x="3175000" y="2946400"/>
            <a:ext cx="584200" cy="355600"/>
          </a:xfrm>
          <a:prstGeom prst="rightArrow">
            <a:avLst/>
          </a:prstGeom>
          <a:solidFill>
            <a:srgbClr val="9AA7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1" name="bc"/>
          <p:cNvSpPr/>
          <p:nvPr/>
        </p:nvSpPr>
        <p:spPr>
          <a:xfrm>
            <a:off x="7035800" y="2946400"/>
            <a:ext cx="584200" cy="355600"/>
          </a:xfrm>
          <a:prstGeom prst="rightArrow">
            <a:avLst/>
          </a:prstGeom>
          <a:solidFill>
            <a:srgbClr val="9AA7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3" name="D"/>
          <p:cNvSpPr/>
          <p:nvPr/>
        </p:nvSpPr>
        <p:spPr>
          <a:xfrm>
            <a:off x="3810000" y="4978400"/>
            <a:ext cx="3175000" cy="1320800"/>
          </a:xfrm>
          <a:prstGeom prst="roundRect">
            <a:avLst>
              <a:gd name="adj" fmla="val 6000"/>
            </a:avLst>
          </a:prstGeom>
          <a:solidFill>
            <a:srgbClr val="FFF4EE"/>
          </a:solidFill>
          <a:ln w="25400">
            <a:solidFill>
              <a:srgbClr val="C00000"/>
            </a:solidFill>
            <a:prstDash val="dash"/>
          </a:ln>
        </p:spPr>
        <p:txBody>
          <a:bodyPr wrap="square" lIns="127000" tIns="101600" rIns="127000" bIns="101600" rtlCol="0" anchor="ctr">
            <a:normAutofit/>
          </a:bodyPr>
          <a:lstStyle/>
          <a:p>
            <a:pPr algn="ctr"/>
            <a:r>
              <a:rPr lang="es-AR" sz="1150" b="1" dirty="0">
                <a:solidFill>
                  <a:srgbClr val="C00000"/>
                </a:solidFill>
              </a:rPr>
              <a:t>ERP / FACTURACIÓN</a:t>
            </a:r>
          </a:p>
          <a:p>
            <a:pPr algn="ctr"/>
            <a:r>
              <a:rPr lang="es-AR" sz="1350" b="0" dirty="0">
                <a:solidFill>
                  <a:srgbClr val="8A3B22"/>
                </a:solidFill>
              </a:rPr>
              <a:t>Sistema externo (si existe)</a:t>
            </a:r>
          </a:p>
        </p:txBody>
      </p:sp>
      <p:sp>
        <p:nvSpPr>
          <p:cNvPr id="822" name="bd"/>
          <p:cNvSpPr/>
          <p:nvPr/>
        </p:nvSpPr>
        <p:spPr>
          <a:xfrm>
            <a:off x="5143500" y="4292600"/>
            <a:ext cx="508000" cy="660400"/>
          </a:xfrm>
          <a:prstGeom prst="up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3" name="bdl"/>
          <p:cNvSpPr txBox="1"/>
          <p:nvPr/>
        </p:nvSpPr>
        <p:spPr>
          <a:xfrm>
            <a:off x="5778500" y="4419600"/>
            <a:ext cx="19050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250" b="1" dirty="0">
                <a:solidFill>
                  <a:srgbClr val="C00000"/>
                </a:solidFill>
              </a:rPr>
              <a:t>¿«ida» o «ida y vuelta»?</a:t>
            </a:r>
          </a:p>
        </p:txBody>
      </p:sp>
      <p:sp>
        <p:nvSpPr>
          <p:cNvPr id="814" name="note"/>
          <p:cNvSpPr/>
          <p:nvPr/>
        </p:nvSpPr>
        <p:spPr>
          <a:xfrm>
            <a:off x="7670800" y="4978400"/>
            <a:ext cx="2819400" cy="132080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 w="25400">
            <a:solidFill>
              <a:srgbClr val="C00000"/>
            </a:solidFill>
          </a:ln>
        </p:spPr>
        <p:txBody>
          <a:bodyPr wrap="square" lIns="127000" tIns="101600" rIns="127000" bIns="101600" rtlCol="0" anchor="ctr">
            <a:normAutofit/>
          </a:bodyPr>
          <a:lstStyle/>
          <a:p>
            <a:pPr algn="l"/>
            <a:r>
              <a:rPr lang="es-AR" sz="1100" b="1" spc="120" dirty="0">
                <a:solidFill>
                  <a:srgbClr val="C00000"/>
                </a:solidFill>
              </a:rPr>
              <a:t>PUNTO DE DECISIÓN CLAVE</a:t>
            </a:r>
          </a:p>
          <a:p>
            <a:pPr algn="l"/>
            <a:r>
              <a:rPr lang="es-AR" sz="1300" dirty="0">
                <a:solidFill>
                  <a:srgbClr val="5A2418"/>
                </a:solidFill>
              </a:rPr>
              <a:t>¿La solución solo consulta o también escribe en otros sistemas?</a:t>
            </a:r>
          </a:p>
        </p:txBody>
      </p:sp>
    </p:spTree>
    <p:extLst>
      <p:ext uri="{BB962C8B-B14F-4D97-AF65-F5344CB8AC3E}">
        <p14:creationId xmlns:p14="http://schemas.microsoft.com/office/powerpoint/2010/main" val="1781736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04CC6A-623A-4A79-1C26-8A18E6FD8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7112000" cy="635000"/>
          </a:xfrm>
        </p:spPr>
        <p:txBody>
          <a:bodyPr/>
          <a:lstStyle/>
          <a:p>
            <a:pPr algn="l"/>
            <a:r>
              <a:rPr lang="es-AR" sz="3200" b="1" dirty="0">
                <a:solidFill>
                  <a:srgbClr val="0E2841"/>
                </a:solidFill>
              </a:rPr>
              <a:t>Modelo de datos sugerido</a:t>
            </a:r>
          </a:p>
        </p:txBody>
      </p:sp>
      <p:sp>
        <p:nvSpPr>
          <p:cNvPr id="800" name="kicker"/>
          <p:cNvSpPr txBox="1"/>
          <p:nvPr/>
        </p:nvSpPr>
        <p:spPr>
          <a:xfrm>
            <a:off x="838200" y="304800"/>
            <a:ext cx="10414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300" b="1" spc="240" dirty="0">
                <a:solidFill>
                  <a:srgbClr val="E97132"/>
                </a:solidFill>
              </a:rPr>
              <a:t>SECCIÓN 6 · ENTIDADES RELACIONALES</a:t>
            </a:r>
          </a:p>
        </p:txBody>
      </p:sp>
      <p:sp>
        <p:nvSpPr>
          <p:cNvPr id="801" name="sub"/>
          <p:cNvSpPr txBox="1"/>
          <p:nvPr/>
        </p:nvSpPr>
        <p:spPr>
          <a:xfrm>
            <a:off x="8128000" y="660400"/>
            <a:ext cx="3225800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s-AR" sz="1200" dirty="0">
                <a:solidFill>
                  <a:srgbClr val="6B7785"/>
                </a:solidFill>
              </a:rPr>
              <a:t>Reemplaza las 3 tablas actuales por un modelo relacional</a:t>
            </a:r>
          </a:p>
        </p:txBody>
      </p:sp>
      <p:sp>
        <p:nvSpPr>
          <p:cNvPr id="820" name="c0"/>
          <p:cNvSpPr/>
          <p:nvPr/>
        </p:nvSpPr>
        <p:spPr>
          <a:xfrm>
            <a:off x="838200" y="1371600"/>
            <a:ext cx="3429000" cy="14224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1" name="hb0"/>
          <p:cNvSpPr/>
          <p:nvPr/>
        </p:nvSpPr>
        <p:spPr>
          <a:xfrm>
            <a:off x="838200" y="1371600"/>
            <a:ext cx="3429000" cy="406400"/>
          </a:xfrm>
          <a:prstGeom prst="roundRect">
            <a:avLst>
              <a:gd name="adj" fmla="val 5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2" name="hb20"/>
          <p:cNvSpPr/>
          <p:nvPr/>
        </p:nvSpPr>
        <p:spPr>
          <a:xfrm>
            <a:off x="838200" y="1574800"/>
            <a:ext cx="3429000" cy="2032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3" name="hn0"/>
          <p:cNvSpPr txBox="1"/>
          <p:nvPr/>
        </p:nvSpPr>
        <p:spPr>
          <a:xfrm>
            <a:off x="1016000" y="14478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50" b="1" dirty="0">
                <a:solidFill>
                  <a:srgbClr val="FFFFFF"/>
                </a:solidFill>
              </a:rPr>
              <a:t>Producto</a:t>
            </a:r>
          </a:p>
        </p:txBody>
      </p:sp>
      <p:sp>
        <p:nvSpPr>
          <p:cNvPr id="824" name="hf0"/>
          <p:cNvSpPr txBox="1"/>
          <p:nvPr/>
        </p:nvSpPr>
        <p:spPr>
          <a:xfrm>
            <a:off x="1016000" y="1879600"/>
            <a:ext cx="30734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300" dirty="0">
                <a:solidFill>
                  <a:srgbClr val="46535F"/>
                </a:solidFill>
              </a:rPr>
              <a:t>SKU · Descripción · Marca · Rubro · Precio lista · Imagen</a:t>
            </a:r>
          </a:p>
        </p:txBody>
      </p:sp>
      <p:sp>
        <p:nvSpPr>
          <p:cNvPr id="825" name="c1"/>
          <p:cNvSpPr/>
          <p:nvPr/>
        </p:nvSpPr>
        <p:spPr>
          <a:xfrm>
            <a:off x="4419600" y="1371600"/>
            <a:ext cx="3429000" cy="14224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6" name="hb1"/>
          <p:cNvSpPr/>
          <p:nvPr/>
        </p:nvSpPr>
        <p:spPr>
          <a:xfrm>
            <a:off x="4419600" y="1371600"/>
            <a:ext cx="3429000" cy="406400"/>
          </a:xfrm>
          <a:prstGeom prst="roundRect">
            <a:avLst>
              <a:gd name="adj" fmla="val 5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7" name="hb21"/>
          <p:cNvSpPr/>
          <p:nvPr/>
        </p:nvSpPr>
        <p:spPr>
          <a:xfrm>
            <a:off x="4419600" y="1574800"/>
            <a:ext cx="3429000" cy="2032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8" name="hn1"/>
          <p:cNvSpPr txBox="1"/>
          <p:nvPr/>
        </p:nvSpPr>
        <p:spPr>
          <a:xfrm>
            <a:off x="4597400" y="14478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50" b="1" dirty="0">
                <a:solidFill>
                  <a:srgbClr val="FFFFFF"/>
                </a:solidFill>
              </a:rPr>
              <a:t>Campaña / Promoción</a:t>
            </a:r>
          </a:p>
        </p:txBody>
      </p:sp>
      <p:sp>
        <p:nvSpPr>
          <p:cNvPr id="829" name="hf1"/>
          <p:cNvSpPr txBox="1"/>
          <p:nvPr/>
        </p:nvSpPr>
        <p:spPr>
          <a:xfrm>
            <a:off x="4597400" y="1879600"/>
            <a:ext cx="30734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300" dirty="0">
                <a:solidFill>
                  <a:srgbClr val="46535F"/>
                </a:solidFill>
              </a:rPr>
              <a:t>Nombre · Vigencia · Descuento · Dto. afiliado · Segmento</a:t>
            </a:r>
          </a:p>
        </p:txBody>
      </p:sp>
      <p:sp>
        <p:nvSpPr>
          <p:cNvPr id="830" name="c2"/>
          <p:cNvSpPr/>
          <p:nvPr/>
        </p:nvSpPr>
        <p:spPr>
          <a:xfrm>
            <a:off x="8001000" y="1371600"/>
            <a:ext cx="3429000" cy="14224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1" name="hb2"/>
          <p:cNvSpPr/>
          <p:nvPr/>
        </p:nvSpPr>
        <p:spPr>
          <a:xfrm>
            <a:off x="8001000" y="1371600"/>
            <a:ext cx="3429000" cy="406400"/>
          </a:xfrm>
          <a:prstGeom prst="roundRect">
            <a:avLst>
              <a:gd name="adj" fmla="val 5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2" name="hb22"/>
          <p:cNvSpPr/>
          <p:nvPr/>
        </p:nvSpPr>
        <p:spPr>
          <a:xfrm>
            <a:off x="8001000" y="1574800"/>
            <a:ext cx="3429000" cy="2032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3" name="hn2"/>
          <p:cNvSpPr txBox="1"/>
          <p:nvPr/>
        </p:nvSpPr>
        <p:spPr>
          <a:xfrm>
            <a:off x="8178800" y="14478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50" b="1" dirty="0">
                <a:solidFill>
                  <a:srgbClr val="FFFFFF"/>
                </a:solidFill>
              </a:rPr>
              <a:t>Medio de Pago</a:t>
            </a:r>
          </a:p>
        </p:txBody>
      </p:sp>
      <p:sp>
        <p:nvSpPr>
          <p:cNvPr id="834" name="hf2"/>
          <p:cNvSpPr txBox="1"/>
          <p:nvPr/>
        </p:nvSpPr>
        <p:spPr>
          <a:xfrm>
            <a:off x="8178800" y="1879600"/>
            <a:ext cx="30734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300" dirty="0">
                <a:solidFill>
                  <a:srgbClr val="46535F"/>
                </a:solidFill>
              </a:rPr>
              <a:t>Nombre · Tipo · Con / sin interés</a:t>
            </a:r>
          </a:p>
        </p:txBody>
      </p:sp>
      <p:sp>
        <p:nvSpPr>
          <p:cNvPr id="835" name="c3"/>
          <p:cNvSpPr/>
          <p:nvPr/>
        </p:nvSpPr>
        <p:spPr>
          <a:xfrm>
            <a:off x="838200" y="2895600"/>
            <a:ext cx="3429000" cy="14224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6" name="hb3"/>
          <p:cNvSpPr/>
          <p:nvPr/>
        </p:nvSpPr>
        <p:spPr>
          <a:xfrm>
            <a:off x="838200" y="2895600"/>
            <a:ext cx="3429000" cy="406400"/>
          </a:xfrm>
          <a:prstGeom prst="roundRect">
            <a:avLst>
              <a:gd name="adj" fmla="val 5000"/>
            </a:avLst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7" name="hb23"/>
          <p:cNvSpPr/>
          <p:nvPr/>
        </p:nvSpPr>
        <p:spPr>
          <a:xfrm>
            <a:off x="838200" y="3098800"/>
            <a:ext cx="3429000" cy="203200"/>
          </a:xfrm>
          <a:prstGeom prst="roundRect">
            <a:avLst>
              <a:gd name="adj" fmla="val 6000"/>
            </a:avLst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8" name="hn3"/>
          <p:cNvSpPr txBox="1"/>
          <p:nvPr/>
        </p:nvSpPr>
        <p:spPr>
          <a:xfrm>
            <a:off x="1016000" y="29718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50" b="1" dirty="0">
                <a:solidFill>
                  <a:srgbClr val="FFFFFF"/>
                </a:solidFill>
              </a:rPr>
              <a:t>Equivalencia de Cuotas</a:t>
            </a:r>
          </a:p>
        </p:txBody>
      </p:sp>
      <p:sp>
        <p:nvSpPr>
          <p:cNvPr id="839" name="hf3"/>
          <p:cNvSpPr txBox="1"/>
          <p:nvPr/>
        </p:nvSpPr>
        <p:spPr>
          <a:xfrm>
            <a:off x="1016000" y="3403600"/>
            <a:ext cx="30734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300" dirty="0">
                <a:solidFill>
                  <a:srgbClr val="46535F"/>
                </a:solidFill>
              </a:rPr>
              <a:t>Medio de pago · Cantidad de cuotas · CFT</a:t>
            </a:r>
          </a:p>
        </p:txBody>
      </p:sp>
      <p:sp>
        <p:nvSpPr>
          <p:cNvPr id="840" name="c4"/>
          <p:cNvSpPr/>
          <p:nvPr/>
        </p:nvSpPr>
        <p:spPr>
          <a:xfrm>
            <a:off x="4419600" y="2895600"/>
            <a:ext cx="3429000" cy="14224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1" name="hb4"/>
          <p:cNvSpPr/>
          <p:nvPr/>
        </p:nvSpPr>
        <p:spPr>
          <a:xfrm>
            <a:off x="4419600" y="2895600"/>
            <a:ext cx="3429000" cy="406400"/>
          </a:xfrm>
          <a:prstGeom prst="roundRect">
            <a:avLst>
              <a:gd name="adj" fmla="val 5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2" name="hb24"/>
          <p:cNvSpPr/>
          <p:nvPr/>
        </p:nvSpPr>
        <p:spPr>
          <a:xfrm>
            <a:off x="4419600" y="3098800"/>
            <a:ext cx="3429000" cy="2032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3" name="hn4"/>
          <p:cNvSpPr txBox="1"/>
          <p:nvPr/>
        </p:nvSpPr>
        <p:spPr>
          <a:xfrm>
            <a:off x="4597400" y="29718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50" b="1" dirty="0">
                <a:solidFill>
                  <a:srgbClr val="FFFFFF"/>
                </a:solidFill>
              </a:rPr>
              <a:t>Sucursal</a:t>
            </a:r>
          </a:p>
        </p:txBody>
      </p:sp>
      <p:sp>
        <p:nvSpPr>
          <p:cNvPr id="844" name="hf4"/>
          <p:cNvSpPr txBox="1"/>
          <p:nvPr/>
        </p:nvSpPr>
        <p:spPr>
          <a:xfrm>
            <a:off x="4597400" y="3403600"/>
            <a:ext cx="30734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300" dirty="0">
                <a:solidFill>
                  <a:srgbClr val="46535F"/>
                </a:solidFill>
              </a:rPr>
              <a:t>Nombre · Dirección</a:t>
            </a:r>
          </a:p>
        </p:txBody>
      </p:sp>
      <p:sp>
        <p:nvSpPr>
          <p:cNvPr id="845" name="c5"/>
          <p:cNvSpPr/>
          <p:nvPr/>
        </p:nvSpPr>
        <p:spPr>
          <a:xfrm>
            <a:off x="8001000" y="2895600"/>
            <a:ext cx="3429000" cy="14224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6" name="hb5"/>
          <p:cNvSpPr/>
          <p:nvPr/>
        </p:nvSpPr>
        <p:spPr>
          <a:xfrm>
            <a:off x="8001000" y="2895600"/>
            <a:ext cx="3429000" cy="406400"/>
          </a:xfrm>
          <a:prstGeom prst="roundRect">
            <a:avLst>
              <a:gd name="adj" fmla="val 5000"/>
            </a:avLst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7" name="hb25"/>
          <p:cNvSpPr/>
          <p:nvPr/>
        </p:nvSpPr>
        <p:spPr>
          <a:xfrm>
            <a:off x="8001000" y="3098800"/>
            <a:ext cx="3429000" cy="203200"/>
          </a:xfrm>
          <a:prstGeom prst="roundRect">
            <a:avLst>
              <a:gd name="adj" fmla="val 6000"/>
            </a:avLst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8" name="hn5"/>
          <p:cNvSpPr txBox="1"/>
          <p:nvPr/>
        </p:nvSpPr>
        <p:spPr>
          <a:xfrm>
            <a:off x="8178800" y="29718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50" b="1" dirty="0">
                <a:solidFill>
                  <a:srgbClr val="FFFFFF"/>
                </a:solidFill>
              </a:rPr>
              <a:t>Stock</a:t>
            </a:r>
          </a:p>
        </p:txBody>
      </p:sp>
      <p:sp>
        <p:nvSpPr>
          <p:cNvPr id="849" name="hf5"/>
          <p:cNvSpPr txBox="1"/>
          <p:nvPr/>
        </p:nvSpPr>
        <p:spPr>
          <a:xfrm>
            <a:off x="8178800" y="3403600"/>
            <a:ext cx="30734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300" dirty="0">
                <a:solidFill>
                  <a:srgbClr val="46535F"/>
                </a:solidFill>
              </a:rPr>
              <a:t>Producto · Sucursal · Disponible · Comprometida</a:t>
            </a:r>
          </a:p>
        </p:txBody>
      </p:sp>
      <p:sp>
        <p:nvSpPr>
          <p:cNvPr id="850" name="c6"/>
          <p:cNvSpPr/>
          <p:nvPr/>
        </p:nvSpPr>
        <p:spPr>
          <a:xfrm>
            <a:off x="838200" y="4419600"/>
            <a:ext cx="3429000" cy="14224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1" name="hb6"/>
          <p:cNvSpPr/>
          <p:nvPr/>
        </p:nvSpPr>
        <p:spPr>
          <a:xfrm>
            <a:off x="838200" y="4419600"/>
            <a:ext cx="3429000" cy="406400"/>
          </a:xfrm>
          <a:prstGeom prst="roundRect">
            <a:avLst>
              <a:gd name="adj" fmla="val 5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2" name="hb26"/>
          <p:cNvSpPr/>
          <p:nvPr/>
        </p:nvSpPr>
        <p:spPr>
          <a:xfrm>
            <a:off x="838200" y="4622800"/>
            <a:ext cx="3429000" cy="2032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3" name="hn6"/>
          <p:cNvSpPr txBox="1"/>
          <p:nvPr/>
        </p:nvSpPr>
        <p:spPr>
          <a:xfrm>
            <a:off x="1016000" y="44958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50" b="1" dirty="0">
                <a:solidFill>
                  <a:srgbClr val="FFFFFF"/>
                </a:solidFill>
              </a:rPr>
              <a:t>Usuario</a:t>
            </a:r>
          </a:p>
        </p:txBody>
      </p:sp>
      <p:sp>
        <p:nvSpPr>
          <p:cNvPr id="854" name="hf6"/>
          <p:cNvSpPr txBox="1"/>
          <p:nvPr/>
        </p:nvSpPr>
        <p:spPr>
          <a:xfrm>
            <a:off x="1016000" y="4927600"/>
            <a:ext cx="30734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300" dirty="0">
                <a:solidFill>
                  <a:srgbClr val="46535F"/>
                </a:solidFill>
              </a:rPr>
              <a:t>Nombre · Rol · Sucursal asignada</a:t>
            </a:r>
          </a:p>
        </p:txBody>
      </p:sp>
      <p:sp>
        <p:nvSpPr>
          <p:cNvPr id="855" name="c7"/>
          <p:cNvSpPr/>
          <p:nvPr/>
        </p:nvSpPr>
        <p:spPr>
          <a:xfrm>
            <a:off x="4419600" y="4419600"/>
            <a:ext cx="3429000" cy="14224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6" name="hb7"/>
          <p:cNvSpPr/>
          <p:nvPr/>
        </p:nvSpPr>
        <p:spPr>
          <a:xfrm>
            <a:off x="4419600" y="4419600"/>
            <a:ext cx="3429000" cy="406400"/>
          </a:xfrm>
          <a:prstGeom prst="roundRect">
            <a:avLst>
              <a:gd name="adj" fmla="val 5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7" name="hb27"/>
          <p:cNvSpPr/>
          <p:nvPr/>
        </p:nvSpPr>
        <p:spPr>
          <a:xfrm>
            <a:off x="4419600" y="4622800"/>
            <a:ext cx="3429000" cy="203200"/>
          </a:xfrm>
          <a:prstGeom prst="roundRect">
            <a:avLst>
              <a:gd name="adj" fmla="val 6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8" name="hn7"/>
          <p:cNvSpPr txBox="1"/>
          <p:nvPr/>
        </p:nvSpPr>
        <p:spPr>
          <a:xfrm>
            <a:off x="4597400" y="44958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50" b="1" dirty="0">
                <a:solidFill>
                  <a:srgbClr val="FFFFFF"/>
                </a:solidFill>
              </a:rPr>
              <a:t>Lista de Precio</a:t>
            </a:r>
          </a:p>
        </p:txBody>
      </p:sp>
      <p:sp>
        <p:nvSpPr>
          <p:cNvPr id="859" name="hd7"/>
          <p:cNvSpPr txBox="1"/>
          <p:nvPr/>
        </p:nvSpPr>
        <p:spPr>
          <a:xfrm>
            <a:off x="7112000" y="4521200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s-AR" sz="900" b="1" spc="60" dirty="0">
                <a:solidFill>
                  <a:srgbClr val="FFFFFF"/>
                </a:solidFill>
              </a:rPr>
              <a:t>DESEABLE</a:t>
            </a:r>
          </a:p>
        </p:txBody>
      </p:sp>
      <p:sp>
        <p:nvSpPr>
          <p:cNvPr id="860" name="hf7"/>
          <p:cNvSpPr txBox="1"/>
          <p:nvPr/>
        </p:nvSpPr>
        <p:spPr>
          <a:xfrm>
            <a:off x="4597400" y="4927600"/>
            <a:ext cx="30734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300" dirty="0">
                <a:solidFill>
                  <a:srgbClr val="46535F"/>
                </a:solidFill>
              </a:rPr>
              <a:t>Nombre · Producto · Precio</a:t>
            </a:r>
          </a:p>
        </p:txBody>
      </p:sp>
      <p:sp>
        <p:nvSpPr>
          <p:cNvPr id="861" name="c8"/>
          <p:cNvSpPr/>
          <p:nvPr/>
        </p:nvSpPr>
        <p:spPr>
          <a:xfrm>
            <a:off x="8001000" y="4419600"/>
            <a:ext cx="3429000" cy="14224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62" name="hb8"/>
          <p:cNvSpPr/>
          <p:nvPr/>
        </p:nvSpPr>
        <p:spPr>
          <a:xfrm>
            <a:off x="8001000" y="4419600"/>
            <a:ext cx="3429000" cy="406400"/>
          </a:xfrm>
          <a:prstGeom prst="roundRect">
            <a:avLst>
              <a:gd name="adj" fmla="val 5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63" name="hb28"/>
          <p:cNvSpPr/>
          <p:nvPr/>
        </p:nvSpPr>
        <p:spPr>
          <a:xfrm>
            <a:off x="8001000" y="4622800"/>
            <a:ext cx="3429000" cy="203200"/>
          </a:xfrm>
          <a:prstGeom prst="roundRect">
            <a:avLst>
              <a:gd name="adj" fmla="val 6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64" name="hn8"/>
          <p:cNvSpPr txBox="1"/>
          <p:nvPr/>
        </p:nvSpPr>
        <p:spPr>
          <a:xfrm>
            <a:off x="8178800" y="44958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450" b="1" dirty="0">
                <a:solidFill>
                  <a:srgbClr val="FFFFFF"/>
                </a:solidFill>
              </a:rPr>
              <a:t>Servicio asociado</a:t>
            </a:r>
          </a:p>
        </p:txBody>
      </p:sp>
      <p:sp>
        <p:nvSpPr>
          <p:cNvPr id="865" name="hd8"/>
          <p:cNvSpPr txBox="1"/>
          <p:nvPr/>
        </p:nvSpPr>
        <p:spPr>
          <a:xfrm>
            <a:off x="10693400" y="4521200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s-AR" sz="900" b="1" spc="60" dirty="0">
                <a:solidFill>
                  <a:srgbClr val="FFFFFF"/>
                </a:solidFill>
              </a:rPr>
              <a:t>DESEABLE</a:t>
            </a:r>
          </a:p>
        </p:txBody>
      </p:sp>
      <p:sp>
        <p:nvSpPr>
          <p:cNvPr id="866" name="hf8"/>
          <p:cNvSpPr txBox="1"/>
          <p:nvPr/>
        </p:nvSpPr>
        <p:spPr>
          <a:xfrm>
            <a:off x="8178800" y="4927600"/>
            <a:ext cx="30734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s-AR" sz="1300" dirty="0">
                <a:solidFill>
                  <a:srgbClr val="46535F"/>
                </a:solidFill>
              </a:rPr>
              <a:t>Nombre · Producto / Rubro · Precio</a:t>
            </a:r>
          </a:p>
        </p:txBody>
      </p:sp>
    </p:spTree>
    <p:extLst>
      <p:ext uri="{BB962C8B-B14F-4D97-AF65-F5344CB8AC3E}">
        <p14:creationId xmlns:p14="http://schemas.microsoft.com/office/powerpoint/2010/main" val="851067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A48C0-D6E9-4197-1696-D7389641C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8128000" cy="635000"/>
          </a:xfrm>
        </p:spPr>
        <p:txBody>
          <a:bodyPr/>
          <a:lstStyle/>
          <a:p>
            <a:pPr algn="l"/>
            <a:r>
              <a:rPr lang="es-AR" sz="3000" b="1" dirty="0">
                <a:solidFill>
                  <a:srgbClr val="0E2841"/>
                </a:solidFill>
              </a:rPr>
              <a:t>Caso de uso: consulta por SKU</a:t>
            </a:r>
          </a:p>
        </p:txBody>
      </p:sp>
      <p:sp>
        <p:nvSpPr>
          <p:cNvPr id="800" name="kicker"/>
          <p:cNvSpPr txBox="1"/>
          <p:nvPr/>
        </p:nvSpPr>
        <p:spPr>
          <a:xfrm>
            <a:off x="838200" y="304800"/>
            <a:ext cx="10414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00" b="1" dirty="0">
                <a:solidFill>
                  <a:srgbClr val="E97132"/>
                </a:solidFill>
              </a:rPr>
              <a:t>SECCIÓN 7 · CASO DE USO PRINCIPAL</a:t>
            </a:r>
          </a:p>
        </p:txBody>
      </p:sp>
      <p:sp>
        <p:nvSpPr>
          <p:cNvPr id="801" name="lh"/>
          <p:cNvSpPr txBox="1"/>
          <p:nvPr/>
        </p:nvSpPr>
        <p:spPr>
          <a:xfrm>
            <a:off x="838200" y="147320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700" b="1" dirty="0">
                <a:solidFill>
                  <a:srgbClr val="156082"/>
                </a:solidFill>
              </a:rPr>
              <a:t>Flujo esperado</a:t>
            </a:r>
          </a:p>
        </p:txBody>
      </p:sp>
      <p:sp>
        <p:nvSpPr>
          <p:cNvPr id="820" name="sc0"/>
          <p:cNvSpPr/>
          <p:nvPr/>
        </p:nvSpPr>
        <p:spPr>
          <a:xfrm>
            <a:off x="838200" y="1905000"/>
            <a:ext cx="431800" cy="4318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1" name="sn0"/>
          <p:cNvSpPr txBox="1"/>
          <p:nvPr/>
        </p:nvSpPr>
        <p:spPr>
          <a:xfrm>
            <a:off x="838200" y="1968500"/>
            <a:ext cx="4318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s-AR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22" name="st0"/>
          <p:cNvSpPr txBox="1"/>
          <p:nvPr/>
        </p:nvSpPr>
        <p:spPr>
          <a:xfrm>
            <a:off x="1422400" y="1930400"/>
            <a:ext cx="3962400" cy="7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450" b="0" dirty="0">
                <a:solidFill>
                  <a:srgbClr val="33414F"/>
                </a:solidFill>
              </a:rPr>
              <a:t>El vendedor inicia sesión con su usuario.</a:t>
            </a:r>
          </a:p>
        </p:txBody>
      </p:sp>
      <p:sp>
        <p:nvSpPr>
          <p:cNvPr id="823" name="sc1"/>
          <p:cNvSpPr/>
          <p:nvPr/>
        </p:nvSpPr>
        <p:spPr>
          <a:xfrm>
            <a:off x="838200" y="2794000"/>
            <a:ext cx="431800" cy="4318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4" name="sn1"/>
          <p:cNvSpPr txBox="1"/>
          <p:nvPr/>
        </p:nvSpPr>
        <p:spPr>
          <a:xfrm>
            <a:off x="838200" y="2857500"/>
            <a:ext cx="4318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s-AR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25" name="st1"/>
          <p:cNvSpPr txBox="1"/>
          <p:nvPr/>
        </p:nvSpPr>
        <p:spPr>
          <a:xfrm>
            <a:off x="1422400" y="2819400"/>
            <a:ext cx="3962400" cy="7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450" b="0" dirty="0">
                <a:solidFill>
                  <a:srgbClr val="33414F"/>
                </a:solidFill>
              </a:rPr>
              <a:t>Ingresa o escanea el SKU del producto.</a:t>
            </a:r>
          </a:p>
        </p:txBody>
      </p:sp>
      <p:sp>
        <p:nvSpPr>
          <p:cNvPr id="826" name="sc2"/>
          <p:cNvSpPr/>
          <p:nvPr/>
        </p:nvSpPr>
        <p:spPr>
          <a:xfrm>
            <a:off x="838200" y="3683000"/>
            <a:ext cx="431800" cy="4318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7" name="sn2"/>
          <p:cNvSpPr txBox="1"/>
          <p:nvPr/>
        </p:nvSpPr>
        <p:spPr>
          <a:xfrm>
            <a:off x="838200" y="3746500"/>
            <a:ext cx="4318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s-AR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28" name="st2"/>
          <p:cNvSpPr txBox="1"/>
          <p:nvPr/>
        </p:nvSpPr>
        <p:spPr>
          <a:xfrm>
            <a:off x="1422400" y="3708400"/>
            <a:ext cx="3962400" cy="7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450" b="0" dirty="0">
                <a:solidFill>
                  <a:srgbClr val="33414F"/>
                </a:solidFill>
              </a:rPr>
              <a:t>El sistema valida si hay una campaña vigente a la fecha.</a:t>
            </a:r>
          </a:p>
        </p:txBody>
      </p:sp>
      <p:sp>
        <p:nvSpPr>
          <p:cNvPr id="829" name="sc3"/>
          <p:cNvSpPr/>
          <p:nvPr/>
        </p:nvSpPr>
        <p:spPr>
          <a:xfrm>
            <a:off x="838200" y="4572000"/>
            <a:ext cx="431800" cy="4318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0" name="sn3"/>
          <p:cNvSpPr txBox="1"/>
          <p:nvPr/>
        </p:nvSpPr>
        <p:spPr>
          <a:xfrm>
            <a:off x="838200" y="4635500"/>
            <a:ext cx="4318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s-AR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31" name="st3"/>
          <p:cNvSpPr txBox="1"/>
          <p:nvPr/>
        </p:nvSpPr>
        <p:spPr>
          <a:xfrm>
            <a:off x="1422400" y="4597400"/>
            <a:ext cx="3962400" cy="7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450" b="0" dirty="0">
                <a:solidFill>
                  <a:srgbClr val="33414F"/>
                </a:solidFill>
              </a:rPr>
              <a:t>Muestra la ficha de oferta del producto.</a:t>
            </a:r>
          </a:p>
        </p:txBody>
      </p:sp>
      <p:sp>
        <p:nvSpPr>
          <p:cNvPr id="832" name="sc4"/>
          <p:cNvSpPr/>
          <p:nvPr/>
        </p:nvSpPr>
        <p:spPr>
          <a:xfrm>
            <a:off x="838200" y="5461000"/>
            <a:ext cx="431800" cy="4318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3" name="sn4"/>
          <p:cNvSpPr txBox="1"/>
          <p:nvPr/>
        </p:nvSpPr>
        <p:spPr>
          <a:xfrm>
            <a:off x="838200" y="5524500"/>
            <a:ext cx="4318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s-AR" sz="16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34" name="st4"/>
          <p:cNvSpPr txBox="1"/>
          <p:nvPr/>
        </p:nvSpPr>
        <p:spPr>
          <a:xfrm>
            <a:off x="1422400" y="5486400"/>
            <a:ext cx="3962400" cy="7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450" b="0" dirty="0">
                <a:solidFill>
                  <a:srgbClr val="33414F"/>
                </a:solidFill>
              </a:rPr>
              <a:t>(Deseable) Comprometer stock o agregar a una venta.</a:t>
            </a:r>
          </a:p>
        </p:txBody>
      </p:sp>
      <p:sp>
        <p:nvSpPr>
          <p:cNvPr id="900" name="ficha"/>
          <p:cNvSpPr/>
          <p:nvPr/>
        </p:nvSpPr>
        <p:spPr>
          <a:xfrm>
            <a:off x="5969000" y="1473200"/>
            <a:ext cx="5384800" cy="4876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901" name="fhead"/>
          <p:cNvSpPr/>
          <p:nvPr/>
        </p:nvSpPr>
        <p:spPr>
          <a:xfrm>
            <a:off x="5969000" y="1473200"/>
            <a:ext cx="5384800" cy="584200"/>
          </a:xfrm>
          <a:prstGeom prst="roundRect">
            <a:avLst>
              <a:gd name="adj" fmla="val 5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902" name="fhead2"/>
          <p:cNvSpPr/>
          <p:nvPr/>
        </p:nvSpPr>
        <p:spPr>
          <a:xfrm>
            <a:off x="5969000" y="1765300"/>
            <a:ext cx="5384800" cy="2921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903" name="fht"/>
          <p:cNvSpPr txBox="1"/>
          <p:nvPr/>
        </p:nvSpPr>
        <p:spPr>
          <a:xfrm>
            <a:off x="6197600" y="1625600"/>
            <a:ext cx="49276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00" b="1" dirty="0">
                <a:solidFill>
                  <a:srgbClr val="FFFFFF"/>
                </a:solidFill>
              </a:rPr>
              <a:t>FICHA DE OFERTA · SKU 1002631</a:t>
            </a:r>
          </a:p>
        </p:txBody>
      </p:sp>
      <p:sp>
        <p:nvSpPr>
          <p:cNvPr id="904" name="fname"/>
          <p:cNvSpPr txBox="1"/>
          <p:nvPr/>
        </p:nvSpPr>
        <p:spPr>
          <a:xfrm>
            <a:off x="6197600" y="2209800"/>
            <a:ext cx="4927600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450" b="1" dirty="0">
                <a:solidFill>
                  <a:srgbClr val="0E2841"/>
                </a:solidFill>
              </a:rPr>
              <a:t>Notebook 14,1” Celeron N4020 · 4GB · SSD 128GB · PCBOX</a:t>
            </a:r>
          </a:p>
        </p:txBody>
      </p:sp>
      <p:sp>
        <p:nvSpPr>
          <p:cNvPr id="905" name="fprice"/>
          <p:cNvSpPr txBox="1"/>
          <p:nvPr/>
        </p:nvSpPr>
        <p:spPr>
          <a:xfrm>
            <a:off x="6197600" y="2794000"/>
            <a:ext cx="33020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3200" b="1" dirty="0">
                <a:solidFill>
                  <a:srgbClr val="156082"/>
                </a:solidFill>
              </a:rPr>
              <a:t>$414.524</a:t>
            </a:r>
          </a:p>
        </p:txBody>
      </p:sp>
      <p:sp>
        <p:nvSpPr>
          <p:cNvPr id="906" name="fpl"/>
          <p:cNvSpPr txBox="1"/>
          <p:nvPr/>
        </p:nvSpPr>
        <p:spPr>
          <a:xfrm>
            <a:off x="6197600" y="3352800"/>
            <a:ext cx="3302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00" b="0" dirty="0">
                <a:solidFill>
                  <a:srgbClr val="6B7785"/>
                </a:solidFill>
              </a:rPr>
              <a:t>Precio oferta · cliente externo</a:t>
            </a:r>
          </a:p>
        </p:txBody>
      </p:sp>
      <p:sp>
        <p:nvSpPr>
          <p:cNvPr id="907" name="faff"/>
          <p:cNvSpPr txBox="1"/>
          <p:nvPr/>
        </p:nvSpPr>
        <p:spPr>
          <a:xfrm>
            <a:off x="9626600" y="2844800"/>
            <a:ext cx="1574800" cy="584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s-AR" sz="1800" b="1" dirty="0">
                <a:solidFill>
                  <a:srgbClr val="0E2841"/>
                </a:solidFill>
              </a:rPr>
              <a:t>$393.798</a:t>
            </a:r>
          </a:p>
          <a:p>
            <a:pPr algn="r"/>
            <a:r>
              <a:rPr lang="es-AR" sz="1200" dirty="0">
                <a:solidFill>
                  <a:srgbClr val="6B7785"/>
                </a:solidFill>
              </a:rPr>
              <a:t>afiliado (−5%)</a:t>
            </a:r>
          </a:p>
        </p:txBody>
      </p:sp>
      <p:sp>
        <p:nvSpPr>
          <p:cNvPr id="908" name="p1"/>
          <p:cNvSpPr/>
          <p:nvPr/>
        </p:nvSpPr>
        <p:spPr>
          <a:xfrm>
            <a:off x="6197600" y="3733800"/>
            <a:ext cx="2159000" cy="381000"/>
          </a:xfrm>
          <a:prstGeom prst="roundRect">
            <a:avLst>
              <a:gd name="adj" fmla="val 30000"/>
            </a:avLst>
          </a:prstGeom>
          <a:solidFill>
            <a:srgbClr val="E7F0F4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909" name="p1t"/>
          <p:cNvSpPr txBox="1"/>
          <p:nvPr/>
        </p:nvSpPr>
        <p:spPr>
          <a:xfrm>
            <a:off x="6197600" y="3810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250" b="1" dirty="0">
                <a:solidFill>
                  <a:srgbClr val="156082"/>
                </a:solidFill>
              </a:rPr>
              <a:t>12 cuotas sin interés</a:t>
            </a:r>
          </a:p>
        </p:txBody>
      </p:sp>
      <p:sp>
        <p:nvSpPr>
          <p:cNvPr id="910" name="p2"/>
          <p:cNvSpPr/>
          <p:nvPr/>
        </p:nvSpPr>
        <p:spPr>
          <a:xfrm>
            <a:off x="8483600" y="3733800"/>
            <a:ext cx="1905000" cy="381000"/>
          </a:xfrm>
          <a:prstGeom prst="roundRect">
            <a:avLst>
              <a:gd name="adj" fmla="val 30000"/>
            </a:avLst>
          </a:prstGeom>
          <a:solidFill>
            <a:srgbClr val="E7F4E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911" name="p2t"/>
          <p:cNvSpPr txBox="1"/>
          <p:nvPr/>
        </p:nvSpPr>
        <p:spPr>
          <a:xfrm>
            <a:off x="8483600" y="38100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250" b="1" dirty="0">
                <a:solidFill>
                  <a:srgbClr val="196B24"/>
                </a:solidFill>
              </a:rPr>
              <a:t>Vigente · hasta 30/06</a:t>
            </a:r>
          </a:p>
        </p:txBody>
      </p:sp>
      <p:sp>
        <p:nvSpPr>
          <p:cNvPr id="912" name="div"/>
          <p:cNvSpPr/>
          <p:nvPr/>
        </p:nvSpPr>
        <p:spPr>
          <a:xfrm>
            <a:off x="6197600" y="4292600"/>
            <a:ext cx="4927600" cy="12700"/>
          </a:xfrm>
          <a:prstGeom prst="roundRect">
            <a:avLst>
              <a:gd name="adj" fmla="val 6000"/>
            </a:avLst>
          </a:prstGeom>
          <a:solidFill>
            <a:srgbClr val="E3E9EF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913" name="r1"/>
          <p:cNvSpPr txBox="1"/>
          <p:nvPr/>
        </p:nvSpPr>
        <p:spPr>
          <a:xfrm>
            <a:off x="6197600" y="4445000"/>
            <a:ext cx="49276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00" dirty="0">
                <a:solidFill>
                  <a:srgbClr val="6B7785"/>
                </a:solidFill>
              </a:rPr>
              <a:t>Campaña:  </a:t>
            </a:r>
            <a:r>
              <a:rPr lang="es-AR" sz="1300" b="1" dirty="0">
                <a:solidFill>
                  <a:srgbClr val="33414F"/>
                </a:solidFill>
              </a:rPr>
              <a:t>Promo TV Mundial</a:t>
            </a:r>
          </a:p>
        </p:txBody>
      </p:sp>
      <p:sp>
        <p:nvSpPr>
          <p:cNvPr id="914" name="r2"/>
          <p:cNvSpPr txBox="1"/>
          <p:nvPr/>
        </p:nvSpPr>
        <p:spPr>
          <a:xfrm>
            <a:off x="6197600" y="4800600"/>
            <a:ext cx="49276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00" dirty="0">
                <a:solidFill>
                  <a:srgbClr val="6B7785"/>
                </a:solidFill>
              </a:rPr>
              <a:t>Pago contado −15%:  </a:t>
            </a:r>
            <a:r>
              <a:rPr lang="es-AR" sz="1300" b="1" dirty="0">
                <a:solidFill>
                  <a:srgbClr val="33414F"/>
                </a:solidFill>
              </a:rPr>
              <a:t>$352.345</a:t>
            </a:r>
          </a:p>
        </p:txBody>
      </p:sp>
      <p:sp>
        <p:nvSpPr>
          <p:cNvPr id="915" name="r3"/>
          <p:cNvSpPr txBox="1"/>
          <p:nvPr/>
        </p:nvSpPr>
        <p:spPr>
          <a:xfrm>
            <a:off x="6197600" y="5156200"/>
            <a:ext cx="49276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00" dirty="0">
                <a:solidFill>
                  <a:srgbClr val="6B7785"/>
                </a:solidFill>
              </a:rPr>
              <a:t>Stock por sucursal:  </a:t>
            </a:r>
            <a:r>
              <a:rPr lang="es-AR" sz="1300" b="1" dirty="0">
                <a:solidFill>
                  <a:srgbClr val="E97132"/>
                </a:solidFill>
              </a:rPr>
              <a:t>nuevo en la web app</a:t>
            </a:r>
          </a:p>
        </p:txBody>
      </p:sp>
      <p:sp>
        <p:nvSpPr>
          <p:cNvPr id="916" name="r4"/>
          <p:cNvSpPr txBox="1"/>
          <p:nvPr/>
        </p:nvSpPr>
        <p:spPr>
          <a:xfrm>
            <a:off x="6197600" y="5562600"/>
            <a:ext cx="4927600" cy="584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0" dirty="0">
                <a:solidFill>
                  <a:srgbClr val="46535F"/>
                </a:solidFill>
              </a:rPr>
              <a:t>Medios sin interés: Peque Tasa 18 · Naranja X 12 · Tuya 9 · bancos 6 · Directo 4.</a:t>
            </a:r>
          </a:p>
        </p:txBody>
      </p:sp>
    </p:spTree>
    <p:extLst>
      <p:ext uri="{BB962C8B-B14F-4D97-AF65-F5344CB8AC3E}">
        <p14:creationId xmlns:p14="http://schemas.microsoft.com/office/powerpoint/2010/main" val="544322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01144-EE03-B2A0-293E-254AB3CBF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10515600" cy="584200"/>
          </a:xfrm>
        </p:spPr>
        <p:txBody>
          <a:bodyPr/>
          <a:lstStyle/>
          <a:p>
            <a:pPr algn="l"/>
            <a:r>
              <a:rPr lang="es-AR" sz="2800" b="1" dirty="0">
                <a:solidFill>
                  <a:srgbClr val="0E2841"/>
                </a:solidFill>
              </a:rPr>
              <a:t>Ficha de oferta según medio de pago</a:t>
            </a:r>
          </a:p>
        </p:txBody>
      </p:sp>
      <p:sp>
        <p:nvSpPr>
          <p:cNvPr id="800" name="kicker"/>
          <p:cNvSpPr txBox="1"/>
          <p:nvPr/>
        </p:nvSpPr>
        <p:spPr>
          <a:xfrm>
            <a:off x="838200" y="304800"/>
            <a:ext cx="10414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00" b="1" dirty="0">
                <a:solidFill>
                  <a:srgbClr val="E97132"/>
                </a:solidFill>
              </a:rPr>
              <a:t>SECCIÓN 7 · MOCKUP DE LA FICHA</a:t>
            </a:r>
          </a:p>
        </p:txBody>
      </p:sp>
      <p:sp>
        <p:nvSpPr>
          <p:cNvPr id="801" name="sub"/>
          <p:cNvSpPr txBox="1"/>
          <p:nvPr/>
        </p:nvSpPr>
        <p:spPr>
          <a:xfrm>
            <a:off x="838200" y="1244600"/>
            <a:ext cx="105156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400" dirty="0">
                <a:solidFill>
                  <a:srgbClr val="6B7785"/>
                </a:solidFill>
              </a:rPr>
              <a:t>Ejemplo real · </a:t>
            </a:r>
            <a:r>
              <a:rPr lang="es-AR" sz="1400" b="1" dirty="0">
                <a:solidFill>
                  <a:srgbClr val="33414F"/>
                </a:solidFill>
              </a:rPr>
              <a:t>SKU 1002631 — Notebook 14,1” PCBOX</a:t>
            </a:r>
            <a:r>
              <a:rPr lang="es-AR" sz="1400" dirty="0">
                <a:solidFill>
                  <a:srgbClr val="6B7785"/>
                </a:solidFill>
              </a:rPr>
              <a:t>  ·  Precio de oferta $414.524</a:t>
            </a:r>
          </a:p>
        </p:txBody>
      </p:sp>
      <p:sp>
        <p:nvSpPr>
          <p:cNvPr id="820" name="card0"/>
          <p:cNvSpPr/>
          <p:nvPr/>
        </p:nvSpPr>
        <p:spPr>
          <a:xfrm>
            <a:off x="838200" y="1625600"/>
            <a:ext cx="3429000" cy="459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1" name="hd0"/>
          <p:cNvSpPr/>
          <p:nvPr/>
        </p:nvSpPr>
        <p:spPr>
          <a:xfrm>
            <a:off x="838200" y="1625600"/>
            <a:ext cx="3429000" cy="584200"/>
          </a:xfrm>
          <a:prstGeom prst="roundRect">
            <a:avLst>
              <a:gd name="adj" fmla="val 5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2" name="hf0"/>
          <p:cNvSpPr/>
          <p:nvPr/>
        </p:nvSpPr>
        <p:spPr>
          <a:xfrm>
            <a:off x="838200" y="1917700"/>
            <a:ext cx="3429000" cy="2921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3" name="ht0"/>
          <p:cNvSpPr txBox="1"/>
          <p:nvPr/>
        </p:nvSpPr>
        <p:spPr>
          <a:xfrm>
            <a:off x="1066800" y="1790700"/>
            <a:ext cx="29718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50" b="1" dirty="0">
                <a:solidFill>
                  <a:srgbClr val="FFFFFF"/>
                </a:solidFill>
              </a:rPr>
              <a:t>PAGO CONTADO</a:t>
            </a:r>
          </a:p>
        </p:txBody>
      </p:sp>
      <p:sp>
        <p:nvSpPr>
          <p:cNvPr id="824" name="se0"/>
          <p:cNvSpPr txBox="1"/>
          <p:nvPr/>
        </p:nvSpPr>
        <p:spPr>
          <a:xfrm>
            <a:off x="1066800" y="2362200"/>
            <a:ext cx="29718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00" b="1" dirty="0">
                <a:solidFill>
                  <a:srgbClr val="156082"/>
                </a:solidFill>
              </a:rPr>
              <a:t>Precio final con 15% off</a:t>
            </a:r>
          </a:p>
        </p:txBody>
      </p:sp>
      <p:sp>
        <p:nvSpPr>
          <p:cNvPr id="825" name="bg0"/>
          <p:cNvSpPr txBox="1"/>
          <p:nvPr/>
        </p:nvSpPr>
        <p:spPr>
          <a:xfrm>
            <a:off x="1066800" y="2667000"/>
            <a:ext cx="29718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3000" b="1" dirty="0">
                <a:solidFill>
                  <a:srgbClr val="156082"/>
                </a:solidFill>
              </a:rPr>
              <a:t>$352.345</a:t>
            </a:r>
          </a:p>
        </p:txBody>
      </p:sp>
      <p:sp>
        <p:nvSpPr>
          <p:cNvPr id="826" name="st0"/>
          <p:cNvSpPr txBox="1"/>
          <p:nvPr/>
        </p:nvSpPr>
        <p:spPr>
          <a:xfrm>
            <a:off x="1066800" y="322580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00" b="0" dirty="0">
                <a:solidFill>
                  <a:srgbClr val="6B7785"/>
                </a:solidFill>
              </a:rPr>
              <a:t>−15% sobre el precio de oferta</a:t>
            </a:r>
          </a:p>
        </p:txBody>
      </p:sp>
      <p:sp>
        <p:nvSpPr>
          <p:cNvPr id="827" name="dv0"/>
          <p:cNvSpPr/>
          <p:nvPr/>
        </p:nvSpPr>
        <p:spPr>
          <a:xfrm>
            <a:off x="1066800" y="3556000"/>
            <a:ext cx="2971800" cy="12700"/>
          </a:xfrm>
          <a:prstGeom prst="rect">
            <a:avLst/>
          </a:prstGeom>
          <a:solidFill>
            <a:srgbClr val="E3E9EF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8" name="rl00"/>
          <p:cNvSpPr txBox="1"/>
          <p:nvPr/>
        </p:nvSpPr>
        <p:spPr>
          <a:xfrm>
            <a:off x="1066800" y="37338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0" dirty="0">
                <a:solidFill>
                  <a:srgbClr val="6B7785"/>
                </a:solidFill>
              </a:rPr>
              <a:t>Ahorro</a:t>
            </a:r>
          </a:p>
        </p:txBody>
      </p:sp>
      <p:sp>
        <p:nvSpPr>
          <p:cNvPr id="829" name="rv00"/>
          <p:cNvSpPr txBox="1"/>
          <p:nvPr/>
        </p:nvSpPr>
        <p:spPr>
          <a:xfrm>
            <a:off x="2336800" y="3733800"/>
            <a:ext cx="17018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s-AR" sz="1250" b="1" dirty="0">
                <a:solidFill>
                  <a:srgbClr val="33414F"/>
                </a:solidFill>
              </a:rPr>
              <a:t>$62.179</a:t>
            </a:r>
          </a:p>
        </p:txBody>
      </p:sp>
      <p:sp>
        <p:nvSpPr>
          <p:cNvPr id="830" name="rl01"/>
          <p:cNvSpPr txBox="1"/>
          <p:nvPr/>
        </p:nvSpPr>
        <p:spPr>
          <a:xfrm>
            <a:off x="1066800" y="41402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0" dirty="0">
                <a:solidFill>
                  <a:srgbClr val="6B7785"/>
                </a:solidFill>
              </a:rPr>
              <a:t>Precio afiliado</a:t>
            </a:r>
          </a:p>
        </p:txBody>
      </p:sp>
      <p:sp>
        <p:nvSpPr>
          <p:cNvPr id="831" name="rv01"/>
          <p:cNvSpPr txBox="1"/>
          <p:nvPr/>
        </p:nvSpPr>
        <p:spPr>
          <a:xfrm>
            <a:off x="2336800" y="4140200"/>
            <a:ext cx="17018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s-AR" sz="1250" b="1" dirty="0">
                <a:solidFill>
                  <a:srgbClr val="33414F"/>
                </a:solidFill>
              </a:rPr>
              <a:t>$334.728</a:t>
            </a:r>
          </a:p>
        </p:txBody>
      </p:sp>
      <p:sp>
        <p:nvSpPr>
          <p:cNvPr id="832" name="rl02"/>
          <p:cNvSpPr txBox="1"/>
          <p:nvPr/>
        </p:nvSpPr>
        <p:spPr>
          <a:xfrm>
            <a:off x="1066800" y="45466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0" dirty="0">
                <a:solidFill>
                  <a:srgbClr val="6B7785"/>
                </a:solidFill>
              </a:rPr>
              <a:t>Aplica a</a:t>
            </a:r>
          </a:p>
        </p:txBody>
      </p:sp>
      <p:sp>
        <p:nvSpPr>
          <p:cNvPr id="833" name="rv02"/>
          <p:cNvSpPr txBox="1"/>
          <p:nvPr/>
        </p:nvSpPr>
        <p:spPr>
          <a:xfrm>
            <a:off x="2336800" y="4546600"/>
            <a:ext cx="17018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s-AR" sz="1250" b="1" dirty="0">
                <a:solidFill>
                  <a:srgbClr val="33414F"/>
                </a:solidFill>
              </a:rPr>
              <a:t>externo y afiliado</a:t>
            </a:r>
          </a:p>
        </p:txBody>
      </p:sp>
      <p:sp>
        <p:nvSpPr>
          <p:cNvPr id="834" name="nt0"/>
          <p:cNvSpPr/>
          <p:nvPr/>
        </p:nvSpPr>
        <p:spPr>
          <a:xfrm>
            <a:off x="1016000" y="5638800"/>
            <a:ext cx="3073400" cy="4064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5" name="ntx0"/>
          <p:cNvSpPr txBox="1"/>
          <p:nvPr/>
        </p:nvSpPr>
        <p:spPr>
          <a:xfrm>
            <a:off x="1168400" y="5727700"/>
            <a:ext cx="27686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200" b="1" dirty="0">
                <a:solidFill>
                  <a:srgbClr val="156082"/>
                </a:solidFill>
              </a:rPr>
              <a:t>El precio más conveniente.</a:t>
            </a:r>
          </a:p>
        </p:txBody>
      </p:sp>
      <p:sp>
        <p:nvSpPr>
          <p:cNvPr id="836" name="card1"/>
          <p:cNvSpPr/>
          <p:nvPr/>
        </p:nvSpPr>
        <p:spPr>
          <a:xfrm>
            <a:off x="4419600" y="1625600"/>
            <a:ext cx="3429000" cy="459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7" name="hd1"/>
          <p:cNvSpPr/>
          <p:nvPr/>
        </p:nvSpPr>
        <p:spPr>
          <a:xfrm>
            <a:off x="4419600" y="1625600"/>
            <a:ext cx="3429000" cy="584200"/>
          </a:xfrm>
          <a:prstGeom prst="roundRect">
            <a:avLst>
              <a:gd name="adj" fmla="val 5000"/>
            </a:avLst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8" name="hf1"/>
          <p:cNvSpPr/>
          <p:nvPr/>
        </p:nvSpPr>
        <p:spPr>
          <a:xfrm>
            <a:off x="4419600" y="1917700"/>
            <a:ext cx="3429000" cy="2921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9" name="ht1"/>
          <p:cNvSpPr txBox="1"/>
          <p:nvPr/>
        </p:nvSpPr>
        <p:spPr>
          <a:xfrm>
            <a:off x="4648200" y="1790700"/>
            <a:ext cx="29718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50" b="1" dirty="0">
                <a:solidFill>
                  <a:srgbClr val="FFFFFF"/>
                </a:solidFill>
              </a:rPr>
              <a:t>TARJETA DE CRÉDITO</a:t>
            </a:r>
          </a:p>
        </p:txBody>
      </p:sp>
      <p:sp>
        <p:nvSpPr>
          <p:cNvPr id="840" name="se1"/>
          <p:cNvSpPr txBox="1"/>
          <p:nvPr/>
        </p:nvSpPr>
        <p:spPr>
          <a:xfrm>
            <a:off x="4648200" y="2362200"/>
            <a:ext cx="29718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00" b="1" dirty="0">
                <a:solidFill>
                  <a:srgbClr val="0E7CAA"/>
                </a:solidFill>
              </a:rPr>
              <a:t>12 cuotas sin interés</a:t>
            </a:r>
          </a:p>
        </p:txBody>
      </p:sp>
      <p:sp>
        <p:nvSpPr>
          <p:cNvPr id="841" name="bg1"/>
          <p:cNvSpPr txBox="1"/>
          <p:nvPr/>
        </p:nvSpPr>
        <p:spPr>
          <a:xfrm>
            <a:off x="4648200" y="2667000"/>
            <a:ext cx="29718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3000" b="1" dirty="0">
                <a:solidFill>
                  <a:srgbClr val="0E7CAA"/>
                </a:solidFill>
              </a:rPr>
              <a:t>$34.544</a:t>
            </a:r>
          </a:p>
        </p:txBody>
      </p:sp>
      <p:sp>
        <p:nvSpPr>
          <p:cNvPr id="842" name="st1"/>
          <p:cNvSpPr txBox="1"/>
          <p:nvPr/>
        </p:nvSpPr>
        <p:spPr>
          <a:xfrm>
            <a:off x="4648200" y="322580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00" b="0" dirty="0">
                <a:solidFill>
                  <a:srgbClr val="6B7785"/>
                </a:solidFill>
              </a:rPr>
              <a:t>por mes · sin recargo financiero</a:t>
            </a:r>
          </a:p>
        </p:txBody>
      </p:sp>
      <p:sp>
        <p:nvSpPr>
          <p:cNvPr id="843" name="dv1"/>
          <p:cNvSpPr/>
          <p:nvPr/>
        </p:nvSpPr>
        <p:spPr>
          <a:xfrm>
            <a:off x="4648200" y="3556000"/>
            <a:ext cx="2971800" cy="12700"/>
          </a:xfrm>
          <a:prstGeom prst="rect">
            <a:avLst/>
          </a:prstGeom>
          <a:solidFill>
            <a:srgbClr val="E3E9EF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4" name="rl10"/>
          <p:cNvSpPr txBox="1"/>
          <p:nvPr/>
        </p:nvSpPr>
        <p:spPr>
          <a:xfrm>
            <a:off x="4648200" y="37338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0" dirty="0">
                <a:solidFill>
                  <a:srgbClr val="6B7785"/>
                </a:solidFill>
              </a:rPr>
              <a:t>Total</a:t>
            </a:r>
          </a:p>
        </p:txBody>
      </p:sp>
      <p:sp>
        <p:nvSpPr>
          <p:cNvPr id="845" name="rv10"/>
          <p:cNvSpPr txBox="1"/>
          <p:nvPr/>
        </p:nvSpPr>
        <p:spPr>
          <a:xfrm>
            <a:off x="5918200" y="3733800"/>
            <a:ext cx="17018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s-AR" sz="1250" b="1" dirty="0">
                <a:solidFill>
                  <a:srgbClr val="33414F"/>
                </a:solidFill>
              </a:rPr>
              <a:t>$414.524</a:t>
            </a:r>
          </a:p>
        </p:txBody>
      </p:sp>
      <p:sp>
        <p:nvSpPr>
          <p:cNvPr id="846" name="rl11"/>
          <p:cNvSpPr txBox="1"/>
          <p:nvPr/>
        </p:nvSpPr>
        <p:spPr>
          <a:xfrm>
            <a:off x="4648200" y="41402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0" dirty="0">
                <a:solidFill>
                  <a:srgbClr val="6B7785"/>
                </a:solidFill>
              </a:rPr>
              <a:t>Entidades</a:t>
            </a:r>
          </a:p>
        </p:txBody>
      </p:sp>
      <p:sp>
        <p:nvSpPr>
          <p:cNvPr id="847" name="rv11"/>
          <p:cNvSpPr txBox="1"/>
          <p:nvPr/>
        </p:nvSpPr>
        <p:spPr>
          <a:xfrm>
            <a:off x="5918200" y="4140200"/>
            <a:ext cx="17018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s-AR" sz="1250" b="1" dirty="0">
                <a:solidFill>
                  <a:srgbClr val="33414F"/>
                </a:solidFill>
              </a:rPr>
              <a:t>Naranja X · regionales</a:t>
            </a:r>
          </a:p>
        </p:txBody>
      </p:sp>
      <p:sp>
        <p:nvSpPr>
          <p:cNvPr id="848" name="rl12"/>
          <p:cNvSpPr txBox="1"/>
          <p:nvPr/>
        </p:nvSpPr>
        <p:spPr>
          <a:xfrm>
            <a:off x="4648200" y="45466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0" dirty="0">
                <a:solidFill>
                  <a:srgbClr val="6B7785"/>
                </a:solidFill>
              </a:rPr>
              <a:t>Tope</a:t>
            </a:r>
          </a:p>
        </p:txBody>
      </p:sp>
      <p:sp>
        <p:nvSpPr>
          <p:cNvPr id="849" name="rv12"/>
          <p:cNvSpPr txBox="1"/>
          <p:nvPr/>
        </p:nvSpPr>
        <p:spPr>
          <a:xfrm>
            <a:off x="5918200" y="4546600"/>
            <a:ext cx="17018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s-AR" sz="1250" b="1" dirty="0">
                <a:solidFill>
                  <a:srgbClr val="33414F"/>
                </a:solidFill>
              </a:rPr>
              <a:t>hasta 12 cuotas</a:t>
            </a:r>
          </a:p>
        </p:txBody>
      </p:sp>
      <p:sp>
        <p:nvSpPr>
          <p:cNvPr id="850" name="nt1"/>
          <p:cNvSpPr/>
          <p:nvPr/>
        </p:nvSpPr>
        <p:spPr>
          <a:xfrm>
            <a:off x="4597400" y="5638800"/>
            <a:ext cx="3073400" cy="4064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1" name="ntx1"/>
          <p:cNvSpPr txBox="1"/>
          <p:nvPr/>
        </p:nvSpPr>
        <p:spPr>
          <a:xfrm>
            <a:off x="4749800" y="5727700"/>
            <a:ext cx="27686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200" b="1" dirty="0">
                <a:solidFill>
                  <a:srgbClr val="0E7CAA"/>
                </a:solidFill>
              </a:rPr>
              <a:t>Sin costo financiero.</a:t>
            </a:r>
          </a:p>
        </p:txBody>
      </p:sp>
      <p:sp>
        <p:nvSpPr>
          <p:cNvPr id="852" name="card2"/>
          <p:cNvSpPr/>
          <p:nvPr/>
        </p:nvSpPr>
        <p:spPr>
          <a:xfrm>
            <a:off x="8001000" y="1625600"/>
            <a:ext cx="3429000" cy="459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3" name="hd2"/>
          <p:cNvSpPr/>
          <p:nvPr/>
        </p:nvSpPr>
        <p:spPr>
          <a:xfrm>
            <a:off x="8001000" y="1625600"/>
            <a:ext cx="3429000" cy="584200"/>
          </a:xfrm>
          <a:prstGeom prst="roundRect">
            <a:avLst>
              <a:gd name="adj" fmla="val 5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4" name="hf2"/>
          <p:cNvSpPr/>
          <p:nvPr/>
        </p:nvSpPr>
        <p:spPr>
          <a:xfrm>
            <a:off x="8001000" y="1917700"/>
            <a:ext cx="3429000" cy="2921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5" name="ht2"/>
          <p:cNvSpPr txBox="1"/>
          <p:nvPr/>
        </p:nvSpPr>
        <p:spPr>
          <a:xfrm>
            <a:off x="8229600" y="1790700"/>
            <a:ext cx="29718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50" b="1" dirty="0">
                <a:solidFill>
                  <a:srgbClr val="FFFFFF"/>
                </a:solidFill>
              </a:rPr>
              <a:t>CRÉDITO PERSONAL</a:t>
            </a:r>
          </a:p>
        </p:txBody>
      </p:sp>
      <p:sp>
        <p:nvSpPr>
          <p:cNvPr id="856" name="se2"/>
          <p:cNvSpPr txBox="1"/>
          <p:nvPr/>
        </p:nvSpPr>
        <p:spPr>
          <a:xfrm>
            <a:off x="8229600" y="2362200"/>
            <a:ext cx="29718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00" b="1" dirty="0">
                <a:solidFill>
                  <a:srgbClr val="C75B1E"/>
                </a:solidFill>
              </a:rPr>
              <a:t>Préstamo DNI · Directo</a:t>
            </a:r>
          </a:p>
        </p:txBody>
      </p:sp>
      <p:sp>
        <p:nvSpPr>
          <p:cNvPr id="857" name="bg2"/>
          <p:cNvSpPr txBox="1"/>
          <p:nvPr/>
        </p:nvSpPr>
        <p:spPr>
          <a:xfrm>
            <a:off x="8229600" y="2667000"/>
            <a:ext cx="29718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3000" b="1" dirty="0">
                <a:solidFill>
                  <a:srgbClr val="C75B1E"/>
                </a:solidFill>
              </a:rPr>
              <a:t>$27.000</a:t>
            </a:r>
          </a:p>
        </p:txBody>
      </p:sp>
      <p:sp>
        <p:nvSpPr>
          <p:cNvPr id="858" name="st2"/>
          <p:cNvSpPr txBox="1"/>
          <p:nvPr/>
        </p:nvSpPr>
        <p:spPr>
          <a:xfrm>
            <a:off x="8229600" y="322580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00" b="0" dirty="0">
                <a:solidFill>
                  <a:srgbClr val="6B7785"/>
                </a:solidFill>
              </a:rPr>
              <a:t>por mes · 18 cuotas (aprox.)</a:t>
            </a:r>
          </a:p>
        </p:txBody>
      </p:sp>
      <p:sp>
        <p:nvSpPr>
          <p:cNvPr id="859" name="dv2"/>
          <p:cNvSpPr/>
          <p:nvPr/>
        </p:nvSpPr>
        <p:spPr>
          <a:xfrm>
            <a:off x="8229600" y="3556000"/>
            <a:ext cx="2971800" cy="12700"/>
          </a:xfrm>
          <a:prstGeom prst="rect">
            <a:avLst/>
          </a:prstGeom>
          <a:solidFill>
            <a:srgbClr val="E3E9EF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60" name="rl20"/>
          <p:cNvSpPr txBox="1"/>
          <p:nvPr/>
        </p:nvSpPr>
        <p:spPr>
          <a:xfrm>
            <a:off x="8229600" y="37338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0" dirty="0">
                <a:solidFill>
                  <a:srgbClr val="6B7785"/>
                </a:solidFill>
              </a:rPr>
              <a:t>Financiación</a:t>
            </a:r>
          </a:p>
        </p:txBody>
      </p:sp>
      <p:sp>
        <p:nvSpPr>
          <p:cNvPr id="861" name="rv20"/>
          <p:cNvSpPr txBox="1"/>
          <p:nvPr/>
        </p:nvSpPr>
        <p:spPr>
          <a:xfrm>
            <a:off x="9499600" y="3733800"/>
            <a:ext cx="17018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s-AR" sz="1250" b="1" dirty="0">
                <a:solidFill>
                  <a:srgbClr val="33414F"/>
                </a:solidFill>
              </a:rPr>
              <a:t>con CFT / TNA</a:t>
            </a:r>
          </a:p>
        </p:txBody>
      </p:sp>
      <p:sp>
        <p:nvSpPr>
          <p:cNvPr id="862" name="rl21"/>
          <p:cNvSpPr txBox="1"/>
          <p:nvPr/>
        </p:nvSpPr>
        <p:spPr>
          <a:xfrm>
            <a:off x="8229600" y="41402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0" dirty="0">
                <a:solidFill>
                  <a:srgbClr val="6B7785"/>
                </a:solidFill>
              </a:rPr>
              <a:t>Beneficio</a:t>
            </a:r>
          </a:p>
        </p:txBody>
      </p:sp>
      <p:sp>
        <p:nvSpPr>
          <p:cNvPr id="863" name="rv21"/>
          <p:cNvSpPr txBox="1"/>
          <p:nvPr/>
        </p:nvSpPr>
        <p:spPr>
          <a:xfrm>
            <a:off x="9499600" y="4140200"/>
            <a:ext cx="17018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s-AR" sz="1250" b="1" dirty="0">
                <a:solidFill>
                  <a:srgbClr val="33414F"/>
                </a:solidFill>
              </a:rPr>
              <a:t>mayor plazo</a:t>
            </a:r>
          </a:p>
        </p:txBody>
      </p:sp>
      <p:sp>
        <p:nvSpPr>
          <p:cNvPr id="864" name="rl22"/>
          <p:cNvSpPr txBox="1"/>
          <p:nvPr/>
        </p:nvSpPr>
        <p:spPr>
          <a:xfrm>
            <a:off x="8229600" y="45466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0" dirty="0">
                <a:solidFill>
                  <a:srgbClr val="6B7785"/>
                </a:solidFill>
              </a:rPr>
              <a:t>Nota</a:t>
            </a:r>
          </a:p>
        </p:txBody>
      </p:sp>
      <p:sp>
        <p:nvSpPr>
          <p:cNvPr id="865" name="rv22"/>
          <p:cNvSpPr txBox="1"/>
          <p:nvPr/>
        </p:nvSpPr>
        <p:spPr>
          <a:xfrm>
            <a:off x="9499600" y="4546600"/>
            <a:ext cx="17018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s-AR" sz="1250" b="1" dirty="0">
                <a:solidFill>
                  <a:srgbClr val="33414F"/>
                </a:solidFill>
              </a:rPr>
              <a:t>valores ilustrativos</a:t>
            </a:r>
          </a:p>
        </p:txBody>
      </p:sp>
      <p:sp>
        <p:nvSpPr>
          <p:cNvPr id="866" name="nt2"/>
          <p:cNvSpPr/>
          <p:nvPr/>
        </p:nvSpPr>
        <p:spPr>
          <a:xfrm>
            <a:off x="8178800" y="5638800"/>
            <a:ext cx="3073400" cy="4064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67" name="ntx2"/>
          <p:cNvSpPr txBox="1"/>
          <p:nvPr/>
        </p:nvSpPr>
        <p:spPr>
          <a:xfrm>
            <a:off x="8331200" y="5727700"/>
            <a:ext cx="27686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200" b="1" dirty="0">
                <a:solidFill>
                  <a:srgbClr val="C75B1E"/>
                </a:solidFill>
              </a:rPr>
              <a:t>A confirmar CFT vigente.</a:t>
            </a:r>
          </a:p>
        </p:txBody>
      </p:sp>
    </p:spTree>
    <p:extLst>
      <p:ext uri="{BB962C8B-B14F-4D97-AF65-F5344CB8AC3E}">
        <p14:creationId xmlns:p14="http://schemas.microsoft.com/office/powerpoint/2010/main" val="2203911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C33F4-86F3-9C60-3992-AE7C7C35E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10515600" cy="584200"/>
          </a:xfrm>
        </p:spPr>
        <p:txBody>
          <a:bodyPr/>
          <a:lstStyle/>
          <a:p>
            <a:pPr algn="l"/>
            <a:r>
              <a:rPr lang="es-AR" sz="2800" b="1" dirty="0">
                <a:solidFill>
                  <a:srgbClr val="0E2841"/>
                </a:solidFill>
              </a:rPr>
              <a:t>Venta cruzada y productos relacionados</a:t>
            </a:r>
          </a:p>
        </p:txBody>
      </p:sp>
      <p:sp>
        <p:nvSpPr>
          <p:cNvPr id="800" name="kicker"/>
          <p:cNvSpPr txBox="1"/>
          <p:nvPr/>
        </p:nvSpPr>
        <p:spPr>
          <a:xfrm>
            <a:off x="838200" y="304800"/>
            <a:ext cx="10414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00" b="1" dirty="0">
                <a:solidFill>
                  <a:srgbClr val="E97132"/>
                </a:solidFill>
              </a:rPr>
              <a:t>SECCIÓN 7 · FUNCIONALIDAD DESEABLE</a:t>
            </a:r>
          </a:p>
        </p:txBody>
      </p:sp>
      <p:sp>
        <p:nvSpPr>
          <p:cNvPr id="810" name="main"/>
          <p:cNvSpPr/>
          <p:nvPr/>
        </p:nvSpPr>
        <p:spPr>
          <a:xfrm>
            <a:off x="838200" y="1625600"/>
            <a:ext cx="3175000" cy="459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11" name="mh"/>
          <p:cNvSpPr/>
          <p:nvPr/>
        </p:nvSpPr>
        <p:spPr>
          <a:xfrm>
            <a:off x="838200" y="1625600"/>
            <a:ext cx="3175000" cy="584200"/>
          </a:xfrm>
          <a:prstGeom prst="roundRect">
            <a:avLst>
              <a:gd name="adj" fmla="val 5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12" name="mhf"/>
          <p:cNvSpPr/>
          <p:nvPr/>
        </p:nvSpPr>
        <p:spPr>
          <a:xfrm>
            <a:off x="838200" y="1917700"/>
            <a:ext cx="3175000" cy="2921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13" name="mht"/>
          <p:cNvSpPr txBox="1"/>
          <p:nvPr/>
        </p:nvSpPr>
        <p:spPr>
          <a:xfrm>
            <a:off x="1066800" y="1790700"/>
            <a:ext cx="27178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00" b="1" dirty="0">
                <a:solidFill>
                  <a:srgbClr val="FFFFFF"/>
                </a:solidFill>
              </a:rPr>
              <a:t>PRODUCTO CONSULTADO</a:t>
            </a:r>
          </a:p>
        </p:txBody>
      </p:sp>
      <p:sp>
        <p:nvSpPr>
          <p:cNvPr id="814" name="img"/>
          <p:cNvSpPr/>
          <p:nvPr/>
        </p:nvSpPr>
        <p:spPr>
          <a:xfrm>
            <a:off x="1066800" y="2387600"/>
            <a:ext cx="2717800" cy="12192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15" name="imgi"/>
          <p:cNvSpPr txBox="1"/>
          <p:nvPr/>
        </p:nvSpPr>
        <p:spPr>
          <a:xfrm>
            <a:off x="1066800" y="2844800"/>
            <a:ext cx="2717800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200" b="0" dirty="0">
                <a:solidFill>
                  <a:srgbClr val="9AA7B2"/>
                </a:solidFill>
              </a:rPr>
              <a:t>[ imagen del producto ]</a:t>
            </a:r>
          </a:p>
        </p:txBody>
      </p:sp>
      <p:sp>
        <p:nvSpPr>
          <p:cNvPr id="816" name="mn"/>
          <p:cNvSpPr txBox="1"/>
          <p:nvPr/>
        </p:nvSpPr>
        <p:spPr>
          <a:xfrm>
            <a:off x="1066800" y="3733800"/>
            <a:ext cx="2717800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50" b="1" dirty="0">
                <a:solidFill>
                  <a:srgbClr val="0E2841"/>
                </a:solidFill>
              </a:rPr>
              <a:t>Notebook 14,1” Celeron N4020 · 4GB · SSD 128GB · PCBOX</a:t>
            </a:r>
          </a:p>
        </p:txBody>
      </p:sp>
      <p:sp>
        <p:nvSpPr>
          <p:cNvPr id="817" name="msku"/>
          <p:cNvSpPr txBox="1"/>
          <p:nvPr/>
        </p:nvSpPr>
        <p:spPr>
          <a:xfrm>
            <a:off x="1066800" y="4318000"/>
            <a:ext cx="27178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150" b="0" dirty="0">
                <a:solidFill>
                  <a:srgbClr val="6B7785"/>
                </a:solidFill>
              </a:rPr>
              <a:t>SKU 1002631 · Rubro: Notebooks</a:t>
            </a:r>
          </a:p>
        </p:txBody>
      </p:sp>
      <p:sp>
        <p:nvSpPr>
          <p:cNvPr id="818" name="mp"/>
          <p:cNvSpPr txBox="1"/>
          <p:nvPr/>
        </p:nvSpPr>
        <p:spPr>
          <a:xfrm>
            <a:off x="1066800" y="4622800"/>
            <a:ext cx="271780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2800" b="1" dirty="0">
                <a:solidFill>
                  <a:srgbClr val="156082"/>
                </a:solidFill>
              </a:rPr>
              <a:t>$414.524</a:t>
            </a:r>
          </a:p>
        </p:txBody>
      </p:sp>
      <p:sp>
        <p:nvSpPr>
          <p:cNvPr id="819" name="mpl"/>
          <p:cNvSpPr txBox="1"/>
          <p:nvPr/>
        </p:nvSpPr>
        <p:spPr>
          <a:xfrm>
            <a:off x="1066800" y="5156200"/>
            <a:ext cx="27178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150" b="0" dirty="0">
                <a:solidFill>
                  <a:srgbClr val="6B7785"/>
                </a:solidFill>
              </a:rPr>
              <a:t>Precio de oferta · 12 cuotas sin interés</a:t>
            </a:r>
          </a:p>
        </p:txBody>
      </p:sp>
      <p:sp>
        <p:nvSpPr>
          <p:cNvPr id="820" name="mdv"/>
          <p:cNvSpPr/>
          <p:nvPr/>
        </p:nvSpPr>
        <p:spPr>
          <a:xfrm>
            <a:off x="1066800" y="5486400"/>
            <a:ext cx="2717800" cy="12700"/>
          </a:xfrm>
          <a:prstGeom prst="rect">
            <a:avLst/>
          </a:prstGeom>
          <a:solidFill>
            <a:srgbClr val="E3E9EF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1" name="mnote"/>
          <p:cNvSpPr txBox="1"/>
          <p:nvPr/>
        </p:nvSpPr>
        <p:spPr>
          <a:xfrm>
            <a:off x="1066800" y="5613400"/>
            <a:ext cx="27178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algn="l"/>
            <a:r>
              <a:rPr lang="es-AR" sz="1200" b="0" dirty="0">
                <a:solidFill>
                  <a:srgbClr val="46535F"/>
                </a:solidFill>
              </a:rPr>
              <a:t>Junto a la ficha, el sistema sugiere automáticamente servicios y productos relacionados.</a:t>
            </a:r>
          </a:p>
        </p:txBody>
      </p:sp>
      <p:sp>
        <p:nvSpPr>
          <p:cNvPr id="850" name="csl"/>
          <p:cNvSpPr txBox="1"/>
          <p:nvPr/>
        </p:nvSpPr>
        <p:spPr>
          <a:xfrm>
            <a:off x="4216400" y="1625600"/>
            <a:ext cx="72136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1" dirty="0">
                <a:solidFill>
                  <a:srgbClr val="E97132"/>
                </a:solidFill>
              </a:rPr>
              <a:t>VENTA CRUZADA · servicios y accesorios</a:t>
            </a:r>
          </a:p>
        </p:txBody>
      </p:sp>
      <p:sp>
        <p:nvSpPr>
          <p:cNvPr id="860" name="cs0"/>
          <p:cNvSpPr/>
          <p:nvPr/>
        </p:nvSpPr>
        <p:spPr>
          <a:xfrm>
            <a:off x="4216400" y="1981200"/>
            <a:ext cx="1651000" cy="162560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F2D6C2"/>
            </a:solidFill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61" name="csp0"/>
          <p:cNvSpPr/>
          <p:nvPr/>
        </p:nvSpPr>
        <p:spPr>
          <a:xfrm>
            <a:off x="5486400" y="2133600"/>
            <a:ext cx="254000" cy="254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62" name="cspt0"/>
          <p:cNvSpPr txBox="1"/>
          <p:nvPr/>
        </p:nvSpPr>
        <p:spPr>
          <a:xfrm>
            <a:off x="5486400" y="21336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500" b="1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863" name="csc0"/>
          <p:cNvSpPr txBox="1"/>
          <p:nvPr/>
        </p:nvSpPr>
        <p:spPr>
          <a:xfrm>
            <a:off x="4394200" y="2159000"/>
            <a:ext cx="10922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950" b="1" dirty="0">
                <a:solidFill>
                  <a:srgbClr val="C75B1E"/>
                </a:solidFill>
              </a:rPr>
              <a:t>SERVICIO</a:t>
            </a:r>
          </a:p>
        </p:txBody>
      </p:sp>
      <p:sp>
        <p:nvSpPr>
          <p:cNvPr id="864" name="csn0"/>
          <p:cNvSpPr txBox="1"/>
          <p:nvPr/>
        </p:nvSpPr>
        <p:spPr>
          <a:xfrm>
            <a:off x="4394200" y="2438400"/>
            <a:ext cx="1295400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1" dirty="0">
                <a:solidFill>
                  <a:srgbClr val="0E2841"/>
                </a:solidFill>
              </a:rPr>
              <a:t>Garantía extendida 12 meses</a:t>
            </a:r>
          </a:p>
        </p:txBody>
      </p:sp>
      <p:sp>
        <p:nvSpPr>
          <p:cNvPr id="865" name="csv0"/>
          <p:cNvSpPr txBox="1"/>
          <p:nvPr/>
        </p:nvSpPr>
        <p:spPr>
          <a:xfrm>
            <a:off x="4394200" y="3225800"/>
            <a:ext cx="12954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500" b="1" dirty="0">
                <a:solidFill>
                  <a:srgbClr val="E97132"/>
                </a:solidFill>
              </a:rPr>
              <a:t>+$28.900</a:t>
            </a:r>
          </a:p>
        </p:txBody>
      </p:sp>
      <p:sp>
        <p:nvSpPr>
          <p:cNvPr id="866" name="cs1"/>
          <p:cNvSpPr/>
          <p:nvPr/>
        </p:nvSpPr>
        <p:spPr>
          <a:xfrm>
            <a:off x="6070600" y="1981200"/>
            <a:ext cx="1651000" cy="162560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F2D6C2"/>
            </a:solidFill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67" name="csp1"/>
          <p:cNvSpPr/>
          <p:nvPr/>
        </p:nvSpPr>
        <p:spPr>
          <a:xfrm>
            <a:off x="7340600" y="2133600"/>
            <a:ext cx="254000" cy="254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68" name="cspt1"/>
          <p:cNvSpPr txBox="1"/>
          <p:nvPr/>
        </p:nvSpPr>
        <p:spPr>
          <a:xfrm>
            <a:off x="7340600" y="21336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500" b="1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869" name="csc1"/>
          <p:cNvSpPr txBox="1"/>
          <p:nvPr/>
        </p:nvSpPr>
        <p:spPr>
          <a:xfrm>
            <a:off x="6248400" y="2159000"/>
            <a:ext cx="10922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950" b="1" dirty="0">
                <a:solidFill>
                  <a:srgbClr val="C75B1E"/>
                </a:solidFill>
              </a:rPr>
              <a:t>SOFTWARE</a:t>
            </a:r>
          </a:p>
        </p:txBody>
      </p:sp>
      <p:sp>
        <p:nvSpPr>
          <p:cNvPr id="870" name="csn1"/>
          <p:cNvSpPr txBox="1"/>
          <p:nvPr/>
        </p:nvSpPr>
        <p:spPr>
          <a:xfrm>
            <a:off x="6248400" y="2438400"/>
            <a:ext cx="1295400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1" dirty="0">
                <a:solidFill>
                  <a:srgbClr val="0E2841"/>
                </a:solidFill>
              </a:rPr>
              <a:t>Microsoft Office 365</a:t>
            </a:r>
          </a:p>
        </p:txBody>
      </p:sp>
      <p:sp>
        <p:nvSpPr>
          <p:cNvPr id="871" name="csv1"/>
          <p:cNvSpPr txBox="1"/>
          <p:nvPr/>
        </p:nvSpPr>
        <p:spPr>
          <a:xfrm>
            <a:off x="6248400" y="3225800"/>
            <a:ext cx="12954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500" b="1" dirty="0">
                <a:solidFill>
                  <a:srgbClr val="E97132"/>
                </a:solidFill>
              </a:rPr>
              <a:t>+$45.000</a:t>
            </a:r>
          </a:p>
        </p:txBody>
      </p:sp>
      <p:sp>
        <p:nvSpPr>
          <p:cNvPr id="872" name="cs2"/>
          <p:cNvSpPr/>
          <p:nvPr/>
        </p:nvSpPr>
        <p:spPr>
          <a:xfrm>
            <a:off x="7924800" y="1981200"/>
            <a:ext cx="1651000" cy="162560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F2D6C2"/>
            </a:solidFill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73" name="csp2"/>
          <p:cNvSpPr/>
          <p:nvPr/>
        </p:nvSpPr>
        <p:spPr>
          <a:xfrm>
            <a:off x="9194800" y="2133600"/>
            <a:ext cx="254000" cy="254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74" name="cspt2"/>
          <p:cNvSpPr txBox="1"/>
          <p:nvPr/>
        </p:nvSpPr>
        <p:spPr>
          <a:xfrm>
            <a:off x="9194800" y="21336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500" b="1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875" name="csc2"/>
          <p:cNvSpPr txBox="1"/>
          <p:nvPr/>
        </p:nvSpPr>
        <p:spPr>
          <a:xfrm>
            <a:off x="8102600" y="2159000"/>
            <a:ext cx="10922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950" b="1" dirty="0">
                <a:solidFill>
                  <a:srgbClr val="C75B1E"/>
                </a:solidFill>
              </a:rPr>
              <a:t>ACCESORIO</a:t>
            </a:r>
          </a:p>
        </p:txBody>
      </p:sp>
      <p:sp>
        <p:nvSpPr>
          <p:cNvPr id="876" name="csn2"/>
          <p:cNvSpPr txBox="1"/>
          <p:nvPr/>
        </p:nvSpPr>
        <p:spPr>
          <a:xfrm>
            <a:off x="8102600" y="2438400"/>
            <a:ext cx="1295400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1" dirty="0">
                <a:solidFill>
                  <a:srgbClr val="0E2841"/>
                </a:solidFill>
              </a:rPr>
              <a:t>Combo mouse + teclado</a:t>
            </a:r>
          </a:p>
        </p:txBody>
      </p:sp>
      <p:sp>
        <p:nvSpPr>
          <p:cNvPr id="877" name="csv2"/>
          <p:cNvSpPr txBox="1"/>
          <p:nvPr/>
        </p:nvSpPr>
        <p:spPr>
          <a:xfrm>
            <a:off x="8102600" y="3225800"/>
            <a:ext cx="12954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500" b="1" dirty="0">
                <a:solidFill>
                  <a:srgbClr val="E97132"/>
                </a:solidFill>
              </a:rPr>
              <a:t>+$19.500</a:t>
            </a:r>
          </a:p>
        </p:txBody>
      </p:sp>
      <p:sp>
        <p:nvSpPr>
          <p:cNvPr id="878" name="cs3"/>
          <p:cNvSpPr/>
          <p:nvPr/>
        </p:nvSpPr>
        <p:spPr>
          <a:xfrm>
            <a:off x="9779000" y="1981200"/>
            <a:ext cx="1651000" cy="162560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F2D6C2"/>
            </a:solidFill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79" name="csp3"/>
          <p:cNvSpPr/>
          <p:nvPr/>
        </p:nvSpPr>
        <p:spPr>
          <a:xfrm>
            <a:off x="11049000" y="2133600"/>
            <a:ext cx="254000" cy="254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80" name="cspt3"/>
          <p:cNvSpPr txBox="1"/>
          <p:nvPr/>
        </p:nvSpPr>
        <p:spPr>
          <a:xfrm>
            <a:off x="11049000" y="21336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500" b="1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881" name="csc3"/>
          <p:cNvSpPr txBox="1"/>
          <p:nvPr/>
        </p:nvSpPr>
        <p:spPr>
          <a:xfrm>
            <a:off x="9956800" y="2159000"/>
            <a:ext cx="10922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950" b="1" dirty="0">
                <a:solidFill>
                  <a:srgbClr val="C75B1E"/>
                </a:solidFill>
              </a:rPr>
              <a:t>ACCESORIO</a:t>
            </a:r>
          </a:p>
        </p:txBody>
      </p:sp>
      <p:sp>
        <p:nvSpPr>
          <p:cNvPr id="882" name="csn3"/>
          <p:cNvSpPr txBox="1"/>
          <p:nvPr/>
        </p:nvSpPr>
        <p:spPr>
          <a:xfrm>
            <a:off x="9956800" y="2438400"/>
            <a:ext cx="1295400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1" dirty="0">
                <a:solidFill>
                  <a:srgbClr val="0E2841"/>
                </a:solidFill>
              </a:rPr>
              <a:t>Mochila para notebook</a:t>
            </a:r>
          </a:p>
        </p:txBody>
      </p:sp>
      <p:sp>
        <p:nvSpPr>
          <p:cNvPr id="883" name="csv3"/>
          <p:cNvSpPr txBox="1"/>
          <p:nvPr/>
        </p:nvSpPr>
        <p:spPr>
          <a:xfrm>
            <a:off x="9956800" y="3225800"/>
            <a:ext cx="12954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500" b="1" dirty="0">
                <a:solidFill>
                  <a:srgbClr val="E97132"/>
                </a:solidFill>
              </a:rPr>
              <a:t>+$15.900</a:t>
            </a:r>
          </a:p>
        </p:txBody>
      </p:sp>
      <p:sp>
        <p:nvSpPr>
          <p:cNvPr id="851" name="rsl"/>
          <p:cNvSpPr txBox="1"/>
          <p:nvPr/>
        </p:nvSpPr>
        <p:spPr>
          <a:xfrm>
            <a:off x="4216400" y="3810000"/>
            <a:ext cx="72136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1" dirty="0">
                <a:solidFill>
                  <a:srgbClr val="156082"/>
                </a:solidFill>
              </a:rPr>
              <a:t>PRODUCTOS RELACIONADOS</a:t>
            </a:r>
          </a:p>
        </p:txBody>
      </p:sp>
      <p:sp>
        <p:nvSpPr>
          <p:cNvPr id="884" name="rl0"/>
          <p:cNvSpPr/>
          <p:nvPr/>
        </p:nvSpPr>
        <p:spPr>
          <a:xfrm>
            <a:off x="4216400" y="4165600"/>
            <a:ext cx="2260600" cy="200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85" name="rimg0"/>
          <p:cNvSpPr/>
          <p:nvPr/>
        </p:nvSpPr>
        <p:spPr>
          <a:xfrm>
            <a:off x="4368800" y="4318000"/>
            <a:ext cx="1955800" cy="8128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86" name="rimgi0"/>
          <p:cNvSpPr txBox="1"/>
          <p:nvPr/>
        </p:nvSpPr>
        <p:spPr>
          <a:xfrm>
            <a:off x="4368800" y="4622800"/>
            <a:ext cx="1955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050" b="0" dirty="0">
                <a:solidFill>
                  <a:srgbClr val="9AA7B2"/>
                </a:solidFill>
              </a:rPr>
              <a:t>[ imagen ]</a:t>
            </a:r>
          </a:p>
        </p:txBody>
      </p:sp>
      <p:sp>
        <p:nvSpPr>
          <p:cNvPr id="887" name="rn0"/>
          <p:cNvSpPr txBox="1"/>
          <p:nvPr/>
        </p:nvSpPr>
        <p:spPr>
          <a:xfrm>
            <a:off x="4394200" y="5232400"/>
            <a:ext cx="1905000" cy="431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1" dirty="0">
                <a:solidFill>
                  <a:srgbClr val="0E2841"/>
                </a:solidFill>
              </a:rPr>
              <a:t>Notebook 15,6” Core i3 · 8GB</a:t>
            </a:r>
          </a:p>
        </p:txBody>
      </p:sp>
      <p:sp>
        <p:nvSpPr>
          <p:cNvPr id="888" name="rsp0"/>
          <p:cNvSpPr txBox="1"/>
          <p:nvPr/>
        </p:nvSpPr>
        <p:spPr>
          <a:xfrm>
            <a:off x="4394200" y="5664200"/>
            <a:ext cx="1905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050" b="0" dirty="0">
                <a:solidFill>
                  <a:srgbClr val="6B7785"/>
                </a:solidFill>
              </a:rPr>
              <a:t>SSD 256GB · Windows 11</a:t>
            </a:r>
          </a:p>
        </p:txBody>
      </p:sp>
      <p:sp>
        <p:nvSpPr>
          <p:cNvPr id="889" name="rpr0"/>
          <p:cNvSpPr txBox="1"/>
          <p:nvPr/>
        </p:nvSpPr>
        <p:spPr>
          <a:xfrm>
            <a:off x="4394200" y="58420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450" b="1" dirty="0">
                <a:solidFill>
                  <a:srgbClr val="156082"/>
                </a:solidFill>
              </a:rPr>
              <a:t>$529.900</a:t>
            </a:r>
          </a:p>
        </p:txBody>
      </p:sp>
      <p:sp>
        <p:nvSpPr>
          <p:cNvPr id="890" name="rl1"/>
          <p:cNvSpPr/>
          <p:nvPr/>
        </p:nvSpPr>
        <p:spPr>
          <a:xfrm>
            <a:off x="6692900" y="4165600"/>
            <a:ext cx="2260600" cy="200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91" name="rimg1"/>
          <p:cNvSpPr/>
          <p:nvPr/>
        </p:nvSpPr>
        <p:spPr>
          <a:xfrm>
            <a:off x="6845300" y="4318000"/>
            <a:ext cx="1955800" cy="8128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92" name="rimgi1"/>
          <p:cNvSpPr txBox="1"/>
          <p:nvPr/>
        </p:nvSpPr>
        <p:spPr>
          <a:xfrm>
            <a:off x="6845300" y="4622800"/>
            <a:ext cx="1955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050" b="0" dirty="0">
                <a:solidFill>
                  <a:srgbClr val="9AA7B2"/>
                </a:solidFill>
              </a:rPr>
              <a:t>[ imagen ]</a:t>
            </a:r>
          </a:p>
        </p:txBody>
      </p:sp>
      <p:sp>
        <p:nvSpPr>
          <p:cNvPr id="893" name="rn1"/>
          <p:cNvSpPr txBox="1"/>
          <p:nvPr/>
        </p:nvSpPr>
        <p:spPr>
          <a:xfrm>
            <a:off x="6870700" y="5232400"/>
            <a:ext cx="1905000" cy="431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1" dirty="0">
                <a:solidFill>
                  <a:srgbClr val="0E2841"/>
                </a:solidFill>
              </a:rPr>
              <a:t>Notebook Ryzen 5 · 16GB</a:t>
            </a:r>
          </a:p>
        </p:txBody>
      </p:sp>
      <p:sp>
        <p:nvSpPr>
          <p:cNvPr id="894" name="rsp1"/>
          <p:cNvSpPr txBox="1"/>
          <p:nvPr/>
        </p:nvSpPr>
        <p:spPr>
          <a:xfrm>
            <a:off x="6870700" y="5664200"/>
            <a:ext cx="1905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050" b="0" dirty="0">
                <a:solidFill>
                  <a:srgbClr val="6B7785"/>
                </a:solidFill>
              </a:rPr>
              <a:t>SSD 512GB · Windows 11</a:t>
            </a:r>
          </a:p>
        </p:txBody>
      </p:sp>
      <p:sp>
        <p:nvSpPr>
          <p:cNvPr id="895" name="rpr1"/>
          <p:cNvSpPr txBox="1"/>
          <p:nvPr/>
        </p:nvSpPr>
        <p:spPr>
          <a:xfrm>
            <a:off x="6870700" y="58420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450" b="1" dirty="0">
                <a:solidFill>
                  <a:srgbClr val="156082"/>
                </a:solidFill>
              </a:rPr>
              <a:t>$689.000</a:t>
            </a:r>
          </a:p>
        </p:txBody>
      </p:sp>
      <p:sp>
        <p:nvSpPr>
          <p:cNvPr id="896" name="rl2"/>
          <p:cNvSpPr/>
          <p:nvPr/>
        </p:nvSpPr>
        <p:spPr>
          <a:xfrm>
            <a:off x="9169400" y="4165600"/>
            <a:ext cx="2260600" cy="200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97" name="rimg2"/>
          <p:cNvSpPr/>
          <p:nvPr/>
        </p:nvSpPr>
        <p:spPr>
          <a:xfrm>
            <a:off x="9321800" y="4318000"/>
            <a:ext cx="1955800" cy="8128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98" name="rimgi2"/>
          <p:cNvSpPr txBox="1"/>
          <p:nvPr/>
        </p:nvSpPr>
        <p:spPr>
          <a:xfrm>
            <a:off x="9321800" y="4622800"/>
            <a:ext cx="1955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050" b="0" dirty="0">
                <a:solidFill>
                  <a:srgbClr val="9AA7B2"/>
                </a:solidFill>
              </a:rPr>
              <a:t>[ imagen ]</a:t>
            </a:r>
          </a:p>
        </p:txBody>
      </p:sp>
      <p:sp>
        <p:nvSpPr>
          <p:cNvPr id="899" name="rn2"/>
          <p:cNvSpPr txBox="1"/>
          <p:nvPr/>
        </p:nvSpPr>
        <p:spPr>
          <a:xfrm>
            <a:off x="9347200" y="5232400"/>
            <a:ext cx="1905000" cy="431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250" b="1" dirty="0">
                <a:solidFill>
                  <a:srgbClr val="0E2841"/>
                </a:solidFill>
              </a:rPr>
              <a:t>Tablet 10” · 64GB</a:t>
            </a:r>
          </a:p>
        </p:txBody>
      </p:sp>
      <p:sp>
        <p:nvSpPr>
          <p:cNvPr id="900" name="rsp2"/>
          <p:cNvSpPr txBox="1"/>
          <p:nvPr/>
        </p:nvSpPr>
        <p:spPr>
          <a:xfrm>
            <a:off x="9347200" y="5664200"/>
            <a:ext cx="1905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050" b="0" dirty="0">
                <a:solidFill>
                  <a:srgbClr val="6B7785"/>
                </a:solidFill>
              </a:rPr>
              <a:t>Wi-Fi · Android 13</a:t>
            </a:r>
          </a:p>
        </p:txBody>
      </p:sp>
      <p:sp>
        <p:nvSpPr>
          <p:cNvPr id="901" name="rpr2"/>
          <p:cNvSpPr txBox="1"/>
          <p:nvPr/>
        </p:nvSpPr>
        <p:spPr>
          <a:xfrm>
            <a:off x="9347200" y="58420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450" b="1" dirty="0">
                <a:solidFill>
                  <a:srgbClr val="156082"/>
                </a:solidFill>
              </a:rPr>
              <a:t>$189.900</a:t>
            </a:r>
          </a:p>
        </p:txBody>
      </p:sp>
      <p:sp>
        <p:nvSpPr>
          <p:cNvPr id="852" name="foot"/>
          <p:cNvSpPr txBox="1"/>
          <p:nvPr/>
        </p:nvSpPr>
        <p:spPr>
          <a:xfrm>
            <a:off x="4216400" y="6273800"/>
            <a:ext cx="72136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100" b="0" dirty="0">
                <a:solidFill>
                  <a:srgbClr val="9AA7B2"/>
                </a:solidFill>
              </a:rPr>
              <a:t>Mockup ilustrativo · la venta cruzada de servicios y productos es una funcionalidad deseable.</a:t>
            </a:r>
          </a:p>
        </p:txBody>
      </p:sp>
    </p:spTree>
    <p:extLst>
      <p:ext uri="{BB962C8B-B14F-4D97-AF65-F5344CB8AC3E}">
        <p14:creationId xmlns:p14="http://schemas.microsoft.com/office/powerpoint/2010/main" val="1157920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23334-E5C3-45E8-DD4E-7BA23527E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9652000" cy="635000"/>
          </a:xfrm>
        </p:spPr>
        <p:txBody>
          <a:bodyPr/>
          <a:lstStyle/>
          <a:p>
            <a:pPr algn="l"/>
            <a:r>
              <a:rPr lang="es-AR" sz="3200" b="1" dirty="0">
                <a:solidFill>
                  <a:srgbClr val="0E2841"/>
                </a:solidFill>
              </a:rPr>
              <a:t>Roles y perfiles de usuario</a:t>
            </a:r>
          </a:p>
        </p:txBody>
      </p:sp>
      <p:sp>
        <p:nvSpPr>
          <p:cNvPr id="800" name="kicker"/>
          <p:cNvSpPr txBox="1"/>
          <p:nvPr/>
        </p:nvSpPr>
        <p:spPr>
          <a:xfrm>
            <a:off x="838200" y="304800"/>
            <a:ext cx="10414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00" b="1" dirty="0">
                <a:solidFill>
                  <a:srgbClr val="E97132"/>
                </a:solidFill>
              </a:rPr>
              <a:t>SECCIÓN 9 · PERFILES SUGERIDOS</a:t>
            </a:r>
          </a:p>
        </p:txBody>
      </p:sp>
      <p:sp>
        <p:nvSpPr>
          <p:cNvPr id="801" name="sub"/>
          <p:cNvSpPr txBox="1"/>
          <p:nvPr/>
        </p:nvSpPr>
        <p:spPr>
          <a:xfrm>
            <a:off x="838200" y="1320800"/>
            <a:ext cx="105156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450" b="0" dirty="0">
                <a:solidFill>
                  <a:srgbClr val="33414F"/>
                </a:solidFill>
              </a:rPr>
              <a:t>Punto de partida; deberán validarse con el negocio antes de iniciar el desarrollo.</a:t>
            </a:r>
          </a:p>
        </p:txBody>
      </p:sp>
      <p:sp>
        <p:nvSpPr>
          <p:cNvPr id="820" name="c0"/>
          <p:cNvSpPr/>
          <p:nvPr/>
        </p:nvSpPr>
        <p:spPr>
          <a:xfrm>
            <a:off x="838200" y="1854200"/>
            <a:ext cx="2514600" cy="41402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1" name="top0"/>
          <p:cNvSpPr/>
          <p:nvPr/>
        </p:nvSpPr>
        <p:spPr>
          <a:xfrm>
            <a:off x="838200" y="1854200"/>
            <a:ext cx="2514600" cy="1016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2" name="ic0"/>
          <p:cNvSpPr/>
          <p:nvPr/>
        </p:nvSpPr>
        <p:spPr>
          <a:xfrm>
            <a:off x="1663700" y="2235200"/>
            <a:ext cx="863600" cy="8636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3" name="icn0"/>
          <p:cNvSpPr txBox="1"/>
          <p:nvPr/>
        </p:nvSpPr>
        <p:spPr>
          <a:xfrm>
            <a:off x="838200" y="2235200"/>
            <a:ext cx="2514600" cy="8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2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24" name="t0"/>
          <p:cNvSpPr txBox="1"/>
          <p:nvPr/>
        </p:nvSpPr>
        <p:spPr>
          <a:xfrm>
            <a:off x="990600" y="3276600"/>
            <a:ext cx="2209800" cy="660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650" b="1" dirty="0">
                <a:solidFill>
                  <a:srgbClr val="0E2841"/>
                </a:solidFill>
              </a:rPr>
              <a:t>Vendedor</a:t>
            </a:r>
          </a:p>
        </p:txBody>
      </p:sp>
      <p:sp>
        <p:nvSpPr>
          <p:cNvPr id="825" name="b0"/>
          <p:cNvSpPr txBox="1"/>
          <p:nvPr/>
        </p:nvSpPr>
        <p:spPr>
          <a:xfrm>
            <a:off x="1041400" y="4038600"/>
            <a:ext cx="2108200" cy="1778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00" b="0" dirty="0">
                <a:solidFill>
                  <a:srgbClr val="46535F"/>
                </a:solidFill>
              </a:rPr>
              <a:t>Consulta ofertas por SKU. Ve el stock de su sucursal y puede comprometerlo. Sin acceso a edición de precios ni campañas.</a:t>
            </a:r>
          </a:p>
        </p:txBody>
      </p:sp>
      <p:sp>
        <p:nvSpPr>
          <p:cNvPr id="826" name="c1"/>
          <p:cNvSpPr/>
          <p:nvPr/>
        </p:nvSpPr>
        <p:spPr>
          <a:xfrm>
            <a:off x="3505200" y="1854200"/>
            <a:ext cx="2514600" cy="41402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7" name="top1"/>
          <p:cNvSpPr/>
          <p:nvPr/>
        </p:nvSpPr>
        <p:spPr>
          <a:xfrm>
            <a:off x="3505200" y="1854200"/>
            <a:ext cx="2514600" cy="101600"/>
          </a:xfrm>
          <a:prstGeom prst="roundRect">
            <a:avLst>
              <a:gd name="adj" fmla="val 6000"/>
            </a:avLst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8" name="ic1"/>
          <p:cNvSpPr/>
          <p:nvPr/>
        </p:nvSpPr>
        <p:spPr>
          <a:xfrm>
            <a:off x="4330700" y="2235200"/>
            <a:ext cx="863600" cy="863600"/>
          </a:xfrm>
          <a:prstGeom prst="ellipse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9" name="icn1"/>
          <p:cNvSpPr txBox="1"/>
          <p:nvPr/>
        </p:nvSpPr>
        <p:spPr>
          <a:xfrm>
            <a:off x="3505200" y="2235200"/>
            <a:ext cx="2514600" cy="8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2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30" name="t1"/>
          <p:cNvSpPr txBox="1"/>
          <p:nvPr/>
        </p:nvSpPr>
        <p:spPr>
          <a:xfrm>
            <a:off x="3657600" y="3276600"/>
            <a:ext cx="2209800" cy="660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650" b="1" dirty="0">
                <a:solidFill>
                  <a:srgbClr val="0E2841"/>
                </a:solidFill>
              </a:rPr>
              <a:t>Supervisor / Gerente</a:t>
            </a:r>
          </a:p>
        </p:txBody>
      </p:sp>
      <p:sp>
        <p:nvSpPr>
          <p:cNvPr id="831" name="b1"/>
          <p:cNvSpPr txBox="1"/>
          <p:nvPr/>
        </p:nvSpPr>
        <p:spPr>
          <a:xfrm>
            <a:off x="3708400" y="4038600"/>
            <a:ext cx="2108200" cy="1778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00" b="0" dirty="0">
                <a:solidFill>
                  <a:srgbClr val="46535F"/>
                </a:solidFill>
              </a:rPr>
              <a:t>Todo lo del vendedor, más visibilidad del stock de otras sucursales y reportes básicos de su local.</a:t>
            </a:r>
          </a:p>
        </p:txBody>
      </p:sp>
      <p:sp>
        <p:nvSpPr>
          <p:cNvPr id="832" name="c2"/>
          <p:cNvSpPr/>
          <p:nvPr/>
        </p:nvSpPr>
        <p:spPr>
          <a:xfrm>
            <a:off x="6172200" y="1854200"/>
            <a:ext cx="2514600" cy="41402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3" name="top2"/>
          <p:cNvSpPr/>
          <p:nvPr/>
        </p:nvSpPr>
        <p:spPr>
          <a:xfrm>
            <a:off x="6172200" y="1854200"/>
            <a:ext cx="2514600" cy="101600"/>
          </a:xfrm>
          <a:prstGeom prst="roundRect">
            <a:avLst>
              <a:gd name="adj" fmla="val 6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4" name="ic2"/>
          <p:cNvSpPr/>
          <p:nvPr/>
        </p:nvSpPr>
        <p:spPr>
          <a:xfrm>
            <a:off x="6997700" y="2235200"/>
            <a:ext cx="863600" cy="8636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5" name="icn2"/>
          <p:cNvSpPr txBox="1"/>
          <p:nvPr/>
        </p:nvSpPr>
        <p:spPr>
          <a:xfrm>
            <a:off x="6172200" y="2235200"/>
            <a:ext cx="2514600" cy="8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36" name="t2"/>
          <p:cNvSpPr txBox="1"/>
          <p:nvPr/>
        </p:nvSpPr>
        <p:spPr>
          <a:xfrm>
            <a:off x="6324600" y="3276600"/>
            <a:ext cx="2209800" cy="660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650" b="1" dirty="0">
                <a:solidFill>
                  <a:srgbClr val="0E2841"/>
                </a:solidFill>
              </a:rPr>
              <a:t>Administrador comercial</a:t>
            </a:r>
          </a:p>
        </p:txBody>
      </p:sp>
      <p:sp>
        <p:nvSpPr>
          <p:cNvPr id="837" name="b2"/>
          <p:cNvSpPr txBox="1"/>
          <p:nvPr/>
        </p:nvSpPr>
        <p:spPr>
          <a:xfrm>
            <a:off x="6375400" y="4038600"/>
            <a:ext cx="2108200" cy="1778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00" b="0" dirty="0">
                <a:solidFill>
                  <a:srgbClr val="46535F"/>
                </a:solidFill>
              </a:rPr>
              <a:t>Alta y edición de productos, precios, campañas, vigencias y medios de pago. Acceso a todas las sucursales.</a:t>
            </a:r>
          </a:p>
        </p:txBody>
      </p:sp>
      <p:sp>
        <p:nvSpPr>
          <p:cNvPr id="838" name="c3"/>
          <p:cNvSpPr/>
          <p:nvPr/>
        </p:nvSpPr>
        <p:spPr>
          <a:xfrm>
            <a:off x="8839200" y="1854200"/>
            <a:ext cx="2514600" cy="41402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9" name="top3"/>
          <p:cNvSpPr/>
          <p:nvPr/>
        </p:nvSpPr>
        <p:spPr>
          <a:xfrm>
            <a:off x="8839200" y="1854200"/>
            <a:ext cx="2514600" cy="101600"/>
          </a:xfrm>
          <a:prstGeom prst="roundRect">
            <a:avLst>
              <a:gd name="adj" fmla="val 6000"/>
            </a:avLst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0" name="ic3"/>
          <p:cNvSpPr/>
          <p:nvPr/>
        </p:nvSpPr>
        <p:spPr>
          <a:xfrm>
            <a:off x="9664700" y="2235200"/>
            <a:ext cx="863600" cy="863600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1" name="icn3"/>
          <p:cNvSpPr txBox="1"/>
          <p:nvPr/>
        </p:nvSpPr>
        <p:spPr>
          <a:xfrm>
            <a:off x="8839200" y="2235200"/>
            <a:ext cx="2514600" cy="8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2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42" name="t3"/>
          <p:cNvSpPr txBox="1"/>
          <p:nvPr/>
        </p:nvSpPr>
        <p:spPr>
          <a:xfrm>
            <a:off x="8991600" y="3276600"/>
            <a:ext cx="2209800" cy="660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650" b="1" dirty="0">
                <a:solidFill>
                  <a:srgbClr val="0E2841"/>
                </a:solidFill>
              </a:rPr>
              <a:t>Administrador del sistema (IT)</a:t>
            </a:r>
          </a:p>
        </p:txBody>
      </p:sp>
      <p:sp>
        <p:nvSpPr>
          <p:cNvPr id="843" name="b3"/>
          <p:cNvSpPr txBox="1"/>
          <p:nvPr/>
        </p:nvSpPr>
        <p:spPr>
          <a:xfrm>
            <a:off x="9042400" y="4038600"/>
            <a:ext cx="2108200" cy="1778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300" b="0" dirty="0">
                <a:solidFill>
                  <a:srgbClr val="46535F"/>
                </a:solidFill>
              </a:rPr>
              <a:t>Gestión de usuarios y permisos, configuración técnica y soporte de la plataforma.</a:t>
            </a:r>
          </a:p>
        </p:txBody>
      </p:sp>
    </p:spTree>
    <p:extLst>
      <p:ext uri="{BB962C8B-B14F-4D97-AF65-F5344CB8AC3E}">
        <p14:creationId xmlns:p14="http://schemas.microsoft.com/office/powerpoint/2010/main" val="4098544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E701C-9FCC-69F3-84E3-BE4776657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10515600" cy="635000"/>
          </a:xfrm>
        </p:spPr>
        <p:txBody>
          <a:bodyPr/>
          <a:lstStyle/>
          <a:p>
            <a:pPr algn="l"/>
            <a:r>
              <a:rPr lang="es-AR" sz="3000" b="1" dirty="0">
                <a:solidFill>
                  <a:srgbClr val="0E2841"/>
                </a:solidFill>
              </a:rPr>
              <a:t>Preguntas y criterios de aceptación</a:t>
            </a:r>
          </a:p>
        </p:txBody>
      </p:sp>
      <p:sp>
        <p:nvSpPr>
          <p:cNvPr id="800" name="kicker"/>
          <p:cNvSpPr txBox="1"/>
          <p:nvPr/>
        </p:nvSpPr>
        <p:spPr>
          <a:xfrm>
            <a:off x="838200" y="304800"/>
            <a:ext cx="10414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endParaRPr/>
          </a:p>
        </p:txBody>
      </p:sp>
      <p:sp>
        <p:nvSpPr>
          <p:cNvPr id="801" name="lh"/>
          <p:cNvSpPr txBox="1"/>
          <p:nvPr/>
        </p:nvSpPr>
        <p:spPr>
          <a:xfrm>
            <a:off x="838200" y="1422400"/>
            <a:ext cx="51308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700" b="1" dirty="0">
                <a:solidFill>
                  <a:srgbClr val="156082"/>
                </a:solidFill>
              </a:rPr>
              <a:t>Preguntas clave para el proveedor</a:t>
            </a:r>
          </a:p>
        </p:txBody>
      </p:sp>
      <p:sp>
        <p:nvSpPr>
          <p:cNvPr id="820" name="qb0"/>
          <p:cNvSpPr/>
          <p:nvPr/>
        </p:nvSpPr>
        <p:spPr>
          <a:xfrm>
            <a:off x="838200" y="1905000"/>
            <a:ext cx="254000" cy="254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1" name="qn0"/>
          <p:cNvSpPr txBox="1"/>
          <p:nvPr/>
        </p:nvSpPr>
        <p:spPr>
          <a:xfrm>
            <a:off x="838200" y="1917700"/>
            <a:ext cx="25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1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22" name="qt0"/>
          <p:cNvSpPr txBox="1"/>
          <p:nvPr/>
        </p:nvSpPr>
        <p:spPr>
          <a:xfrm>
            <a:off x="1219200" y="1879600"/>
            <a:ext cx="4749800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350" b="0" dirty="0">
                <a:solidFill>
                  <a:srgbClr val="33414F"/>
                </a:solidFill>
              </a:rPr>
              <a:t>¿Solo consulta («ida») o también escribe datos («ida y vuelta»)?</a:t>
            </a:r>
          </a:p>
        </p:txBody>
      </p:sp>
      <p:sp>
        <p:nvSpPr>
          <p:cNvPr id="823" name="qb1"/>
          <p:cNvSpPr/>
          <p:nvPr/>
        </p:nvSpPr>
        <p:spPr>
          <a:xfrm>
            <a:off x="838200" y="2463800"/>
            <a:ext cx="254000" cy="254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4" name="qn1"/>
          <p:cNvSpPr txBox="1"/>
          <p:nvPr/>
        </p:nvSpPr>
        <p:spPr>
          <a:xfrm>
            <a:off x="838200" y="2476500"/>
            <a:ext cx="25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1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25" name="qt1"/>
          <p:cNvSpPr txBox="1"/>
          <p:nvPr/>
        </p:nvSpPr>
        <p:spPr>
          <a:xfrm>
            <a:off x="1219200" y="2438400"/>
            <a:ext cx="4749800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350" b="0" dirty="0">
                <a:solidFill>
                  <a:srgbClr val="33414F"/>
                </a:solidFill>
              </a:rPr>
              <a:t>¿Punto de venta y facturación completo, o herramienta de consulta?</a:t>
            </a:r>
          </a:p>
        </p:txBody>
      </p:sp>
      <p:sp>
        <p:nvSpPr>
          <p:cNvPr id="826" name="qb2"/>
          <p:cNvSpPr/>
          <p:nvPr/>
        </p:nvSpPr>
        <p:spPr>
          <a:xfrm>
            <a:off x="838200" y="3022600"/>
            <a:ext cx="254000" cy="254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27" name="qn2"/>
          <p:cNvSpPr txBox="1"/>
          <p:nvPr/>
        </p:nvSpPr>
        <p:spPr>
          <a:xfrm>
            <a:off x="838200" y="3035300"/>
            <a:ext cx="25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1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28" name="qt2"/>
          <p:cNvSpPr txBox="1"/>
          <p:nvPr/>
        </p:nvSpPr>
        <p:spPr>
          <a:xfrm>
            <a:off x="1219200" y="2997200"/>
            <a:ext cx="4749800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350" b="0" dirty="0">
                <a:solidFill>
                  <a:srgbClr val="33414F"/>
                </a:solidFill>
              </a:rPr>
              <a:t>¿El stock se actualiza en tiempo real, por sincronización o manual?</a:t>
            </a:r>
          </a:p>
        </p:txBody>
      </p:sp>
      <p:sp>
        <p:nvSpPr>
          <p:cNvPr id="829" name="qb3"/>
          <p:cNvSpPr/>
          <p:nvPr/>
        </p:nvSpPr>
        <p:spPr>
          <a:xfrm>
            <a:off x="838200" y="3581400"/>
            <a:ext cx="254000" cy="254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0" name="qn3"/>
          <p:cNvSpPr txBox="1"/>
          <p:nvPr/>
        </p:nvSpPr>
        <p:spPr>
          <a:xfrm>
            <a:off x="838200" y="3594100"/>
            <a:ext cx="25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1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31" name="qt3"/>
          <p:cNvSpPr txBox="1"/>
          <p:nvPr/>
        </p:nvSpPr>
        <p:spPr>
          <a:xfrm>
            <a:off x="1219200" y="3556000"/>
            <a:ext cx="4749800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350" b="0" dirty="0">
                <a:solidFill>
                  <a:srgbClr val="33414F"/>
                </a:solidFill>
              </a:rPr>
              <a:t>¿Existe un ERP o sistema de gestión con el que integrarse? ¿Cómo?</a:t>
            </a:r>
          </a:p>
        </p:txBody>
      </p:sp>
      <p:sp>
        <p:nvSpPr>
          <p:cNvPr id="832" name="qb4"/>
          <p:cNvSpPr/>
          <p:nvPr/>
        </p:nvSpPr>
        <p:spPr>
          <a:xfrm>
            <a:off x="838200" y="4140200"/>
            <a:ext cx="254000" cy="254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3" name="qn4"/>
          <p:cNvSpPr txBox="1"/>
          <p:nvPr/>
        </p:nvSpPr>
        <p:spPr>
          <a:xfrm>
            <a:off x="838200" y="4152900"/>
            <a:ext cx="25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1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34" name="qt4"/>
          <p:cNvSpPr txBox="1"/>
          <p:nvPr/>
        </p:nvSpPr>
        <p:spPr>
          <a:xfrm>
            <a:off x="1219200" y="4114800"/>
            <a:ext cx="4749800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350" b="0" dirty="0">
                <a:solidFill>
                  <a:srgbClr val="33414F"/>
                </a:solidFill>
              </a:rPr>
              <a:t>¿Cuántos usuarios y roles, y qué permisos por cada uno?</a:t>
            </a:r>
          </a:p>
        </p:txBody>
      </p:sp>
      <p:sp>
        <p:nvSpPr>
          <p:cNvPr id="835" name="qb5"/>
          <p:cNvSpPr/>
          <p:nvPr/>
        </p:nvSpPr>
        <p:spPr>
          <a:xfrm>
            <a:off x="838200" y="4699000"/>
            <a:ext cx="254000" cy="254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6" name="qn5"/>
          <p:cNvSpPr txBox="1"/>
          <p:nvPr/>
        </p:nvSpPr>
        <p:spPr>
          <a:xfrm>
            <a:off x="838200" y="4711700"/>
            <a:ext cx="25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1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37" name="qt5"/>
          <p:cNvSpPr txBox="1"/>
          <p:nvPr/>
        </p:nvSpPr>
        <p:spPr>
          <a:xfrm>
            <a:off x="1219200" y="4673600"/>
            <a:ext cx="4749800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350" b="0" dirty="0">
                <a:solidFill>
                  <a:srgbClr val="33414F"/>
                </a:solidFill>
              </a:rPr>
              <a:t>¿Quién administra la carga de campañas, precios y vigencias?</a:t>
            </a:r>
          </a:p>
        </p:txBody>
      </p:sp>
      <p:sp>
        <p:nvSpPr>
          <p:cNvPr id="838" name="qb6"/>
          <p:cNvSpPr/>
          <p:nvPr/>
        </p:nvSpPr>
        <p:spPr>
          <a:xfrm>
            <a:off x="838200" y="5257800"/>
            <a:ext cx="254000" cy="254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39" name="qn6"/>
          <p:cNvSpPr txBox="1"/>
          <p:nvPr/>
        </p:nvSpPr>
        <p:spPr>
          <a:xfrm>
            <a:off x="838200" y="5270500"/>
            <a:ext cx="25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1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40" name="qt6"/>
          <p:cNvSpPr txBox="1"/>
          <p:nvPr/>
        </p:nvSpPr>
        <p:spPr>
          <a:xfrm>
            <a:off x="1219200" y="5232400"/>
            <a:ext cx="4749800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350" b="0" dirty="0">
                <a:solidFill>
                  <a:srgbClr val="33414F"/>
                </a:solidFill>
              </a:rPr>
              <a:t>¿Debe funcionar en móviles / tablets además de PC?</a:t>
            </a:r>
          </a:p>
        </p:txBody>
      </p:sp>
      <p:sp>
        <p:nvSpPr>
          <p:cNvPr id="841" name="qb7"/>
          <p:cNvSpPr/>
          <p:nvPr/>
        </p:nvSpPr>
        <p:spPr>
          <a:xfrm>
            <a:off x="838200" y="5816600"/>
            <a:ext cx="254000" cy="254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2" name="qn7"/>
          <p:cNvSpPr txBox="1"/>
          <p:nvPr/>
        </p:nvSpPr>
        <p:spPr>
          <a:xfrm>
            <a:off x="838200" y="5829300"/>
            <a:ext cx="25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1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43" name="qt7"/>
          <p:cNvSpPr txBox="1"/>
          <p:nvPr/>
        </p:nvSpPr>
        <p:spPr>
          <a:xfrm>
            <a:off x="1219200" y="5791200"/>
            <a:ext cx="4749800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350" b="0" dirty="0">
                <a:solidFill>
                  <a:srgbClr val="33414F"/>
                </a:solidFill>
              </a:rPr>
              <a:t>¿Hosting, soporte, backups y nivel de disponibilidad (uptime)?</a:t>
            </a:r>
          </a:p>
        </p:txBody>
      </p:sp>
      <p:sp>
        <p:nvSpPr>
          <p:cNvPr id="900" name="card"/>
          <p:cNvSpPr/>
          <p:nvPr/>
        </p:nvSpPr>
        <p:spPr>
          <a:xfrm>
            <a:off x="6273800" y="1422400"/>
            <a:ext cx="5080000" cy="4978400"/>
          </a:xfrm>
          <a:prstGeom prst="roundRect">
            <a:avLst>
              <a:gd name="adj" fmla="val 4000"/>
            </a:avLst>
          </a:prstGeom>
          <a:solidFill>
            <a:srgbClr val="F0F7F1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901" name="cbar"/>
          <p:cNvSpPr/>
          <p:nvPr/>
        </p:nvSpPr>
        <p:spPr>
          <a:xfrm>
            <a:off x="6273800" y="1422400"/>
            <a:ext cx="5080000" cy="5842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902" name="cbar2"/>
          <p:cNvSpPr/>
          <p:nvPr/>
        </p:nvSpPr>
        <p:spPr>
          <a:xfrm>
            <a:off x="6273800" y="1714500"/>
            <a:ext cx="5080000" cy="2921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903" name="ch"/>
          <p:cNvSpPr txBox="1"/>
          <p:nvPr/>
        </p:nvSpPr>
        <p:spPr>
          <a:xfrm>
            <a:off x="6527800" y="157480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AR" sz="1600" b="1" dirty="0">
                <a:solidFill>
                  <a:srgbClr val="FFFFFF"/>
                </a:solidFill>
              </a:rPr>
              <a:t>Criterios de aceptación</a:t>
            </a:r>
          </a:p>
        </p:txBody>
      </p:sp>
      <p:sp>
        <p:nvSpPr>
          <p:cNvPr id="844" name="chk0"/>
          <p:cNvSpPr/>
          <p:nvPr/>
        </p:nvSpPr>
        <p:spPr>
          <a:xfrm>
            <a:off x="6527800" y="2209800"/>
            <a:ext cx="304800" cy="304800"/>
          </a:xfrm>
          <a:prstGeom prst="ellipse">
            <a:avLst/>
          </a:prstGeom>
          <a:solidFill>
            <a:srgbClr val="196B24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5" name="chkt0"/>
          <p:cNvSpPr txBox="1"/>
          <p:nvPr/>
        </p:nvSpPr>
        <p:spPr>
          <a:xfrm>
            <a:off x="6527800" y="2222500"/>
            <a:ext cx="304800" cy="27940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3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46" name="crt0"/>
          <p:cNvSpPr txBox="1"/>
          <p:nvPr/>
        </p:nvSpPr>
        <p:spPr>
          <a:xfrm>
            <a:off x="6985000" y="2184400"/>
            <a:ext cx="4114800" cy="609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350" b="0" dirty="0">
                <a:solidFill>
                  <a:srgbClr val="2C3A2E"/>
                </a:solidFill>
              </a:rPr>
              <a:t>Login + SKU → ficha de oferta equivalente a la actual.</a:t>
            </a:r>
          </a:p>
        </p:txBody>
      </p:sp>
      <p:sp>
        <p:nvSpPr>
          <p:cNvPr id="847" name="chk1"/>
          <p:cNvSpPr/>
          <p:nvPr/>
        </p:nvSpPr>
        <p:spPr>
          <a:xfrm>
            <a:off x="6527800" y="2895600"/>
            <a:ext cx="304800" cy="304800"/>
          </a:xfrm>
          <a:prstGeom prst="ellipse">
            <a:avLst/>
          </a:prstGeom>
          <a:solidFill>
            <a:srgbClr val="196B24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48" name="chkt1"/>
          <p:cNvSpPr txBox="1"/>
          <p:nvPr/>
        </p:nvSpPr>
        <p:spPr>
          <a:xfrm>
            <a:off x="6527800" y="2908300"/>
            <a:ext cx="304800" cy="27940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3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49" name="crt1"/>
          <p:cNvSpPr txBox="1"/>
          <p:nvPr/>
        </p:nvSpPr>
        <p:spPr>
          <a:xfrm>
            <a:off x="6985000" y="2870200"/>
            <a:ext cx="4114800" cy="609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350" b="0" dirty="0">
                <a:solidFill>
                  <a:srgbClr val="2C3A2E"/>
                </a:solidFill>
              </a:rPr>
              <a:t>Muestra precio, descuento, campaña y vigencia; oculta las vencidas.</a:t>
            </a:r>
          </a:p>
        </p:txBody>
      </p:sp>
      <p:sp>
        <p:nvSpPr>
          <p:cNvPr id="850" name="chk2"/>
          <p:cNvSpPr/>
          <p:nvPr/>
        </p:nvSpPr>
        <p:spPr>
          <a:xfrm>
            <a:off x="6527800" y="3581400"/>
            <a:ext cx="304800" cy="304800"/>
          </a:xfrm>
          <a:prstGeom prst="ellipse">
            <a:avLst/>
          </a:prstGeom>
          <a:solidFill>
            <a:srgbClr val="196B24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1" name="chkt2"/>
          <p:cNvSpPr txBox="1"/>
          <p:nvPr/>
        </p:nvSpPr>
        <p:spPr>
          <a:xfrm>
            <a:off x="6527800" y="3594100"/>
            <a:ext cx="304800" cy="27940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3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52" name="crt2"/>
          <p:cNvSpPr txBox="1"/>
          <p:nvPr/>
        </p:nvSpPr>
        <p:spPr>
          <a:xfrm>
            <a:off x="6985000" y="3556000"/>
            <a:ext cx="4114800" cy="609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350" b="0" dirty="0">
                <a:solidFill>
                  <a:srgbClr val="2C3A2E"/>
                </a:solidFill>
              </a:rPr>
              <a:t>Muestra el stock disponible por sucursal.</a:t>
            </a:r>
          </a:p>
        </p:txBody>
      </p:sp>
      <p:sp>
        <p:nvSpPr>
          <p:cNvPr id="853" name="chk3"/>
          <p:cNvSpPr/>
          <p:nvPr/>
        </p:nvSpPr>
        <p:spPr>
          <a:xfrm>
            <a:off x="6527800" y="4267200"/>
            <a:ext cx="304800" cy="304800"/>
          </a:xfrm>
          <a:prstGeom prst="ellipse">
            <a:avLst/>
          </a:prstGeom>
          <a:solidFill>
            <a:srgbClr val="196B24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4" name="chkt3"/>
          <p:cNvSpPr txBox="1"/>
          <p:nvPr/>
        </p:nvSpPr>
        <p:spPr>
          <a:xfrm>
            <a:off x="6527800" y="4279900"/>
            <a:ext cx="304800" cy="27940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3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55" name="crt3"/>
          <p:cNvSpPr txBox="1"/>
          <p:nvPr/>
        </p:nvSpPr>
        <p:spPr>
          <a:xfrm>
            <a:off x="6985000" y="4241800"/>
            <a:ext cx="4114800" cy="609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350" b="0" dirty="0">
                <a:solidFill>
                  <a:srgbClr val="2C3A2E"/>
                </a:solidFill>
              </a:rPr>
              <a:t>Muestra medios sin interés y el tope de cuotas de cada uno.</a:t>
            </a:r>
          </a:p>
        </p:txBody>
      </p:sp>
      <p:sp>
        <p:nvSpPr>
          <p:cNvPr id="856" name="chk4"/>
          <p:cNvSpPr/>
          <p:nvPr/>
        </p:nvSpPr>
        <p:spPr>
          <a:xfrm>
            <a:off x="6527800" y="4953000"/>
            <a:ext cx="304800" cy="304800"/>
          </a:xfrm>
          <a:prstGeom prst="ellipse">
            <a:avLst/>
          </a:prstGeom>
          <a:solidFill>
            <a:srgbClr val="196B24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57" name="chkt4"/>
          <p:cNvSpPr txBox="1"/>
          <p:nvPr/>
        </p:nvSpPr>
        <p:spPr>
          <a:xfrm>
            <a:off x="6527800" y="4965700"/>
            <a:ext cx="304800" cy="27940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3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58" name="crt4"/>
          <p:cNvSpPr txBox="1"/>
          <p:nvPr/>
        </p:nvSpPr>
        <p:spPr>
          <a:xfrm>
            <a:off x="6985000" y="4927600"/>
            <a:ext cx="4114800" cy="609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350" b="0" dirty="0">
                <a:solidFill>
                  <a:srgbClr val="2C3A2E"/>
                </a:solidFill>
              </a:rPr>
              <a:t>≥ 2 usuarios con distintos permisos y registro de cada consulta.</a:t>
            </a:r>
          </a:p>
        </p:txBody>
      </p:sp>
      <p:sp>
        <p:nvSpPr>
          <p:cNvPr id="859" name="chk5"/>
          <p:cNvSpPr/>
          <p:nvPr/>
        </p:nvSpPr>
        <p:spPr>
          <a:xfrm>
            <a:off x="6527800" y="5638800"/>
            <a:ext cx="304800" cy="304800"/>
          </a:xfrm>
          <a:prstGeom prst="ellipse">
            <a:avLst/>
          </a:prstGeom>
          <a:solidFill>
            <a:srgbClr val="196B24"/>
          </a:solidFill>
          <a:ln>
            <a:noFill/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860" name="chkt5"/>
          <p:cNvSpPr txBox="1"/>
          <p:nvPr/>
        </p:nvSpPr>
        <p:spPr>
          <a:xfrm>
            <a:off x="6527800" y="5651500"/>
            <a:ext cx="304800" cy="27940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AR" sz="13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61" name="crt5"/>
          <p:cNvSpPr txBox="1"/>
          <p:nvPr/>
        </p:nvSpPr>
        <p:spPr>
          <a:xfrm>
            <a:off x="6985000" y="5613400"/>
            <a:ext cx="4114800" cy="609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AR" sz="1350" b="0" dirty="0">
                <a:solidFill>
                  <a:srgbClr val="2C3A2E"/>
                </a:solidFill>
              </a:rPr>
              <a:t>Carga autogestionable, sin intervención técnica del proveedor.</a:t>
            </a:r>
          </a:p>
        </p:txBody>
      </p:sp>
    </p:spTree>
    <p:extLst>
      <p:ext uri="{BB962C8B-B14F-4D97-AF65-F5344CB8AC3E}">
        <p14:creationId xmlns:p14="http://schemas.microsoft.com/office/powerpoint/2010/main" val="218130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 [1782416860744]">
  <a:themeElements>
    <a:clrScheme name="Office">
      <a:dk1>
        <a:srgbClr val="13233A"/>
      </a:dk1>
      <a:lt1>
        <a:srgbClr val="FFFFFF"/>
      </a:lt1>
      <a:dk2>
        <a:srgbClr val="0E2841"/>
      </a:dk2>
      <a:lt2>
        <a:srgbClr val="EEF2F6"/>
      </a:lt2>
      <a:accent1>
        <a:srgbClr val="156082"/>
      </a:accent1>
      <a:accent2>
        <a:srgbClr val="E97132"/>
      </a:accent2>
      <a:accent3>
        <a:srgbClr val="0F9ED5"/>
      </a:accent3>
      <a:accent4>
        <a:srgbClr val="196B24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DEB24CD-01F3-4382-9853-CCD0F603A46C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7b5cb80-3013-4880-bca2-a6d727a86cb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1984</Words>
  <Application>Microsoft Office PowerPoint</Application>
  <PresentationFormat>Panorámica</PresentationFormat>
  <Paragraphs>355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Segoe UI</vt:lpstr>
      <vt:lpstr>Segoe UI Semibold</vt:lpstr>
      <vt:lpstr>Tema de Office [1782416860744]</vt:lpstr>
      <vt:lpstr>Modernización del Punto de Venta de Promociones</vt:lpstr>
      <vt:lpstr>Objetivo del documento</vt:lpstr>
      <vt:lpstr>Situación actual: el Excel de Promociones</vt:lpstr>
      <vt:lpstr>Situación actual: el Excel de Promociones</vt:lpstr>
      <vt:lpstr>Situación actual: el Excel de Promociones</vt:lpstr>
      <vt:lpstr>Estructura de datos actual</vt:lpstr>
      <vt:lpstr>Diagrama del proceso actual</vt:lpstr>
      <vt:lpstr>Limitaciones del modelo actual</vt:lpstr>
      <vt:lpstr>Objetivo del nuevo desarrollo</vt:lpstr>
      <vt:lpstr>Requerimientos mínimos</vt:lpstr>
      <vt:lpstr>Requerimientos deseables</vt:lpstr>
      <vt:lpstr>Arquitectura propuesta</vt:lpstr>
      <vt:lpstr>Modelo de datos sugerido</vt:lpstr>
      <vt:lpstr>Caso de uso: consulta por SKU</vt:lpstr>
      <vt:lpstr>Ficha de oferta según medio de pago</vt:lpstr>
      <vt:lpstr>Venta cruzada y productos relacionados</vt:lpstr>
      <vt:lpstr>Roles y perfiles de usuario</vt:lpstr>
      <vt:lpstr>Preguntas y criterios de aceptación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Denis</dc:creator>
  <cp:lastModifiedBy>Marcelo Denis</cp:lastModifiedBy>
  <cp:revision>2</cp:revision>
  <dcterms:created xsi:type="dcterms:W3CDTF">2026-06-25T19:47:40Z</dcterms:created>
  <dcterms:modified xsi:type="dcterms:W3CDTF">2026-06-29T12:02:09Z</dcterms:modified>
</cp:coreProperties>
</file>